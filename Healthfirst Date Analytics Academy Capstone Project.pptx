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0" r:id="rId4"/>
    <p:sldId id="258" r:id="rId5"/>
    <p:sldId id="259" r:id="rId6"/>
    <p:sldId id="265" r:id="rId7"/>
    <p:sldId id="262" r:id="rId8"/>
    <p:sldId id="261" r:id="rId9"/>
    <p:sldId id="263" r:id="rId10"/>
    <p:sldId id="268"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EEE"/>
    <a:srgbClr val="BFD4DC"/>
    <a:srgbClr val="C1D7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404" autoAdjust="0"/>
  </p:normalViewPr>
  <p:slideViewPr>
    <p:cSldViewPr snapToGrid="0">
      <p:cViewPr>
        <p:scale>
          <a:sx n="50" d="100"/>
          <a:sy n="50" d="100"/>
        </p:scale>
        <p:origin x="1284"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E73E11-0DBD-466D-A626-BC0A9F8791C1}"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6C7AEA46-B230-44C3-80FE-F25376E787CE}">
      <dgm:prSet custT="1"/>
      <dgm:spPr>
        <a:solidFill>
          <a:srgbClr val="BFD4DC"/>
        </a:solidFill>
      </dgm:spPr>
      <dgm:t>
        <a:bodyPr/>
        <a:lstStyle/>
        <a:p>
          <a:r>
            <a:rPr lang="en-US" sz="2000" b="1" dirty="0">
              <a:solidFill>
                <a:schemeClr val="tx1"/>
              </a:solidFill>
            </a:rPr>
            <a:t>Convert </a:t>
          </a:r>
        </a:p>
      </dgm:t>
    </dgm:pt>
    <dgm:pt modelId="{E2027598-F4B8-4D80-A8F1-62A5764AC3C0}" type="parTrans" cxnId="{EE946AF8-C799-4260-8A25-3AA8CE76B1F9}">
      <dgm:prSet/>
      <dgm:spPr/>
      <dgm:t>
        <a:bodyPr/>
        <a:lstStyle/>
        <a:p>
          <a:endParaRPr lang="en-US" sz="2000">
            <a:solidFill>
              <a:schemeClr val="tx1"/>
            </a:solidFill>
          </a:endParaRPr>
        </a:p>
      </dgm:t>
    </dgm:pt>
    <dgm:pt modelId="{82EED677-B1B5-4A2A-98C5-F315B53B952B}" type="sibTrans" cxnId="{EE946AF8-C799-4260-8A25-3AA8CE76B1F9}">
      <dgm:prSet/>
      <dgm:spPr/>
      <dgm:t>
        <a:bodyPr/>
        <a:lstStyle/>
        <a:p>
          <a:endParaRPr lang="en-US" sz="2000">
            <a:solidFill>
              <a:schemeClr val="tx1"/>
            </a:solidFill>
          </a:endParaRPr>
        </a:p>
      </dgm:t>
    </dgm:pt>
    <dgm:pt modelId="{242234A1-DC75-489B-A6DC-533458819C3C}">
      <dgm:prSet custT="1"/>
      <dgm:spPr/>
      <dgm:t>
        <a:bodyPr/>
        <a:lstStyle/>
        <a:p>
          <a:r>
            <a:rPr lang="en-US" sz="2000">
              <a:solidFill>
                <a:schemeClr val="tx1"/>
              </a:solidFill>
            </a:rPr>
            <a:t>Timestamp fields from strings to datetime objects.</a:t>
          </a:r>
        </a:p>
      </dgm:t>
    </dgm:pt>
    <dgm:pt modelId="{9B1E3A1D-46D1-493A-8073-4C15608A5C11}" type="parTrans" cxnId="{B5772C38-A055-4E2B-9BCA-ADB4DB46ED3D}">
      <dgm:prSet/>
      <dgm:spPr/>
      <dgm:t>
        <a:bodyPr/>
        <a:lstStyle/>
        <a:p>
          <a:endParaRPr lang="en-US" sz="2000">
            <a:solidFill>
              <a:schemeClr val="tx1"/>
            </a:solidFill>
          </a:endParaRPr>
        </a:p>
      </dgm:t>
    </dgm:pt>
    <dgm:pt modelId="{131D37D6-A4E0-4B75-AB24-956BFD8CBBB9}" type="sibTrans" cxnId="{B5772C38-A055-4E2B-9BCA-ADB4DB46ED3D}">
      <dgm:prSet/>
      <dgm:spPr/>
      <dgm:t>
        <a:bodyPr/>
        <a:lstStyle/>
        <a:p>
          <a:endParaRPr lang="en-US" sz="2000">
            <a:solidFill>
              <a:schemeClr val="tx1"/>
            </a:solidFill>
          </a:endParaRPr>
        </a:p>
      </dgm:t>
    </dgm:pt>
    <dgm:pt modelId="{AED85E35-BFCD-41DD-B9D2-7CC769BFE797}">
      <dgm:prSet custT="1"/>
      <dgm:spPr/>
      <dgm:t>
        <a:bodyPr/>
        <a:lstStyle/>
        <a:p>
          <a:r>
            <a:rPr lang="en-US" sz="2000">
              <a:solidFill>
                <a:schemeClr val="tx1"/>
              </a:solidFill>
            </a:rPr>
            <a:t>Response time from seconds to minutes.</a:t>
          </a:r>
        </a:p>
      </dgm:t>
    </dgm:pt>
    <dgm:pt modelId="{ECFEC1C4-63DD-4AE2-920F-B0B51464EB10}" type="parTrans" cxnId="{79B67F85-0B92-48EA-80D7-14A7BA49398B}">
      <dgm:prSet/>
      <dgm:spPr/>
      <dgm:t>
        <a:bodyPr/>
        <a:lstStyle/>
        <a:p>
          <a:endParaRPr lang="en-US" sz="2000">
            <a:solidFill>
              <a:schemeClr val="tx1"/>
            </a:solidFill>
          </a:endParaRPr>
        </a:p>
      </dgm:t>
    </dgm:pt>
    <dgm:pt modelId="{565F59E8-9E89-4DDB-8AEE-0A47953C554A}" type="sibTrans" cxnId="{79B67F85-0B92-48EA-80D7-14A7BA49398B}">
      <dgm:prSet/>
      <dgm:spPr/>
      <dgm:t>
        <a:bodyPr/>
        <a:lstStyle/>
        <a:p>
          <a:endParaRPr lang="en-US" sz="2000">
            <a:solidFill>
              <a:schemeClr val="tx1"/>
            </a:solidFill>
          </a:endParaRPr>
        </a:p>
      </dgm:t>
    </dgm:pt>
    <dgm:pt modelId="{6B1DBED8-745A-4583-BE94-D0B77B4DF6E1}">
      <dgm:prSet custT="1"/>
      <dgm:spPr/>
      <dgm:t>
        <a:bodyPr/>
        <a:lstStyle/>
        <a:p>
          <a:r>
            <a:rPr lang="en-US" sz="2000">
              <a:solidFill>
                <a:schemeClr val="tx1"/>
              </a:solidFill>
            </a:rPr>
            <a:t>Severity code from text to numeric values. </a:t>
          </a:r>
        </a:p>
      </dgm:t>
    </dgm:pt>
    <dgm:pt modelId="{07DD011A-B3CD-471D-BAD1-D9A34AC46702}" type="parTrans" cxnId="{1E7A3AE1-2842-4EBA-A2E5-BD6388E11EED}">
      <dgm:prSet/>
      <dgm:spPr/>
      <dgm:t>
        <a:bodyPr/>
        <a:lstStyle/>
        <a:p>
          <a:endParaRPr lang="en-US" sz="2000">
            <a:solidFill>
              <a:schemeClr val="tx1"/>
            </a:solidFill>
          </a:endParaRPr>
        </a:p>
      </dgm:t>
    </dgm:pt>
    <dgm:pt modelId="{6E5DBC19-E7E1-45E9-98EF-2DE75CEDB88D}" type="sibTrans" cxnId="{1E7A3AE1-2842-4EBA-A2E5-BD6388E11EED}">
      <dgm:prSet/>
      <dgm:spPr/>
      <dgm:t>
        <a:bodyPr/>
        <a:lstStyle/>
        <a:p>
          <a:endParaRPr lang="en-US" sz="2000">
            <a:solidFill>
              <a:schemeClr val="tx1"/>
            </a:solidFill>
          </a:endParaRPr>
        </a:p>
      </dgm:t>
    </dgm:pt>
    <dgm:pt modelId="{3EC30BA2-B42B-4764-AD6E-A9188C06DA9D}">
      <dgm:prSet custT="1"/>
      <dgm:spPr>
        <a:solidFill>
          <a:srgbClr val="BFD4DC"/>
        </a:solidFill>
      </dgm:spPr>
      <dgm:t>
        <a:bodyPr/>
        <a:lstStyle/>
        <a:p>
          <a:r>
            <a:rPr lang="en-US" sz="2000" b="1" dirty="0">
              <a:solidFill>
                <a:schemeClr val="tx1"/>
              </a:solidFill>
            </a:rPr>
            <a:t>Extract hour, month, weekday, and weekend from </a:t>
          </a:r>
          <a:r>
            <a:rPr lang="en-US" sz="2000" b="1" dirty="0" err="1">
              <a:solidFill>
                <a:schemeClr val="tx1"/>
              </a:solidFill>
            </a:rPr>
            <a:t>incident_datetime</a:t>
          </a:r>
          <a:r>
            <a:rPr lang="en-US" sz="2000" b="1" dirty="0">
              <a:solidFill>
                <a:schemeClr val="tx1"/>
              </a:solidFill>
            </a:rPr>
            <a:t>.</a:t>
          </a:r>
        </a:p>
      </dgm:t>
    </dgm:pt>
    <dgm:pt modelId="{1B959C70-1CD4-4B9C-8A53-5BF8BE727C36}" type="parTrans" cxnId="{6D5FC5C1-3EEC-494C-853B-1A7339392397}">
      <dgm:prSet/>
      <dgm:spPr/>
      <dgm:t>
        <a:bodyPr/>
        <a:lstStyle/>
        <a:p>
          <a:endParaRPr lang="en-US" sz="2000">
            <a:solidFill>
              <a:schemeClr val="tx1"/>
            </a:solidFill>
          </a:endParaRPr>
        </a:p>
      </dgm:t>
    </dgm:pt>
    <dgm:pt modelId="{462D5593-DB65-454A-A815-4DA0B18D3272}" type="sibTrans" cxnId="{6D5FC5C1-3EEC-494C-853B-1A7339392397}">
      <dgm:prSet/>
      <dgm:spPr/>
      <dgm:t>
        <a:bodyPr/>
        <a:lstStyle/>
        <a:p>
          <a:endParaRPr lang="en-US" sz="2000">
            <a:solidFill>
              <a:schemeClr val="tx1"/>
            </a:solidFill>
          </a:endParaRPr>
        </a:p>
      </dgm:t>
    </dgm:pt>
    <dgm:pt modelId="{5FA01238-142F-4846-B41C-5CEAB5A6FD9D}">
      <dgm:prSet custT="1"/>
      <dgm:spPr>
        <a:solidFill>
          <a:srgbClr val="BFD4DC"/>
        </a:solidFill>
      </dgm:spPr>
      <dgm:t>
        <a:bodyPr/>
        <a:lstStyle/>
        <a:p>
          <a:r>
            <a:rPr lang="en-US" sz="2000" b="1" dirty="0">
              <a:solidFill>
                <a:schemeClr val="tx1"/>
              </a:solidFill>
            </a:rPr>
            <a:t>Remove missing values from the borough field.</a:t>
          </a:r>
        </a:p>
      </dgm:t>
    </dgm:pt>
    <dgm:pt modelId="{11288AB6-0122-45E2-969B-BC1652B3A785}" type="parTrans" cxnId="{A82F3C0C-56DA-4411-83BD-1A2D89236E14}">
      <dgm:prSet/>
      <dgm:spPr/>
      <dgm:t>
        <a:bodyPr/>
        <a:lstStyle/>
        <a:p>
          <a:endParaRPr lang="en-US" sz="2000">
            <a:solidFill>
              <a:schemeClr val="tx1"/>
            </a:solidFill>
          </a:endParaRPr>
        </a:p>
      </dgm:t>
    </dgm:pt>
    <dgm:pt modelId="{450932F8-1EE3-4D93-B2D4-9A30CE4D4542}" type="sibTrans" cxnId="{A82F3C0C-56DA-4411-83BD-1A2D89236E14}">
      <dgm:prSet/>
      <dgm:spPr/>
      <dgm:t>
        <a:bodyPr/>
        <a:lstStyle/>
        <a:p>
          <a:endParaRPr lang="en-US" sz="2000">
            <a:solidFill>
              <a:schemeClr val="tx1"/>
            </a:solidFill>
          </a:endParaRPr>
        </a:p>
      </dgm:t>
    </dgm:pt>
    <dgm:pt modelId="{A0913FB1-95F0-451A-9228-3015DE7D6FCF}" type="pres">
      <dgm:prSet presAssocID="{F3E73E11-0DBD-466D-A626-BC0A9F8791C1}" presName="linear" presStyleCnt="0">
        <dgm:presLayoutVars>
          <dgm:dir/>
          <dgm:animLvl val="lvl"/>
          <dgm:resizeHandles val="exact"/>
        </dgm:presLayoutVars>
      </dgm:prSet>
      <dgm:spPr/>
    </dgm:pt>
    <dgm:pt modelId="{3C08ACBB-6177-4DFF-BFC0-5F34D3F8B55F}" type="pres">
      <dgm:prSet presAssocID="{6C7AEA46-B230-44C3-80FE-F25376E787CE}" presName="parentLin" presStyleCnt="0"/>
      <dgm:spPr/>
    </dgm:pt>
    <dgm:pt modelId="{B839BDBC-7538-4407-A64B-8CDA13764984}" type="pres">
      <dgm:prSet presAssocID="{6C7AEA46-B230-44C3-80FE-F25376E787CE}" presName="parentLeftMargin" presStyleLbl="node1" presStyleIdx="0" presStyleCnt="3"/>
      <dgm:spPr/>
    </dgm:pt>
    <dgm:pt modelId="{F7A7FB7E-0628-428A-A761-5EB8D3F123D5}" type="pres">
      <dgm:prSet presAssocID="{6C7AEA46-B230-44C3-80FE-F25376E787CE}" presName="parentText" presStyleLbl="node1" presStyleIdx="0" presStyleCnt="3">
        <dgm:presLayoutVars>
          <dgm:chMax val="0"/>
          <dgm:bulletEnabled val="1"/>
        </dgm:presLayoutVars>
      </dgm:prSet>
      <dgm:spPr/>
    </dgm:pt>
    <dgm:pt modelId="{BE486142-4B13-4200-ADFD-51C17C6BB9E0}" type="pres">
      <dgm:prSet presAssocID="{6C7AEA46-B230-44C3-80FE-F25376E787CE}" presName="negativeSpace" presStyleCnt="0"/>
      <dgm:spPr/>
    </dgm:pt>
    <dgm:pt modelId="{EAB8EF09-1706-4C12-9003-D94F7D2E1054}" type="pres">
      <dgm:prSet presAssocID="{6C7AEA46-B230-44C3-80FE-F25376E787CE}" presName="childText" presStyleLbl="conFgAcc1" presStyleIdx="0" presStyleCnt="3">
        <dgm:presLayoutVars>
          <dgm:bulletEnabled val="1"/>
        </dgm:presLayoutVars>
      </dgm:prSet>
      <dgm:spPr/>
    </dgm:pt>
    <dgm:pt modelId="{3D4BCBF0-2729-40ED-BCCB-92DC0FE9FA16}" type="pres">
      <dgm:prSet presAssocID="{82EED677-B1B5-4A2A-98C5-F315B53B952B}" presName="spaceBetweenRectangles" presStyleCnt="0"/>
      <dgm:spPr/>
    </dgm:pt>
    <dgm:pt modelId="{8364A613-6C3E-4448-89F0-A5CDEB063FD0}" type="pres">
      <dgm:prSet presAssocID="{3EC30BA2-B42B-4764-AD6E-A9188C06DA9D}" presName="parentLin" presStyleCnt="0"/>
      <dgm:spPr/>
    </dgm:pt>
    <dgm:pt modelId="{A7F94C06-540D-4FA6-9281-32F391719F30}" type="pres">
      <dgm:prSet presAssocID="{3EC30BA2-B42B-4764-AD6E-A9188C06DA9D}" presName="parentLeftMargin" presStyleLbl="node1" presStyleIdx="0" presStyleCnt="3"/>
      <dgm:spPr/>
    </dgm:pt>
    <dgm:pt modelId="{8757CC7F-62C5-4119-B0FB-1AC5B37458DA}" type="pres">
      <dgm:prSet presAssocID="{3EC30BA2-B42B-4764-AD6E-A9188C06DA9D}" presName="parentText" presStyleLbl="node1" presStyleIdx="1" presStyleCnt="3">
        <dgm:presLayoutVars>
          <dgm:chMax val="0"/>
          <dgm:bulletEnabled val="1"/>
        </dgm:presLayoutVars>
      </dgm:prSet>
      <dgm:spPr/>
    </dgm:pt>
    <dgm:pt modelId="{0240B7B9-DA86-4C2E-AE98-FBF09C1AD50B}" type="pres">
      <dgm:prSet presAssocID="{3EC30BA2-B42B-4764-AD6E-A9188C06DA9D}" presName="negativeSpace" presStyleCnt="0"/>
      <dgm:spPr/>
    </dgm:pt>
    <dgm:pt modelId="{6D95A72A-4AB6-4806-A5EB-BAB74B5C75A9}" type="pres">
      <dgm:prSet presAssocID="{3EC30BA2-B42B-4764-AD6E-A9188C06DA9D}" presName="childText" presStyleLbl="conFgAcc1" presStyleIdx="1" presStyleCnt="3">
        <dgm:presLayoutVars>
          <dgm:bulletEnabled val="1"/>
        </dgm:presLayoutVars>
      </dgm:prSet>
      <dgm:spPr/>
    </dgm:pt>
    <dgm:pt modelId="{D5802197-B143-4719-9D27-41B065B72816}" type="pres">
      <dgm:prSet presAssocID="{462D5593-DB65-454A-A815-4DA0B18D3272}" presName="spaceBetweenRectangles" presStyleCnt="0"/>
      <dgm:spPr/>
    </dgm:pt>
    <dgm:pt modelId="{E1F5A242-CCB1-426D-8385-A586705A5F70}" type="pres">
      <dgm:prSet presAssocID="{5FA01238-142F-4846-B41C-5CEAB5A6FD9D}" presName="parentLin" presStyleCnt="0"/>
      <dgm:spPr/>
    </dgm:pt>
    <dgm:pt modelId="{217A7F16-2880-4746-91B2-9119F43D9803}" type="pres">
      <dgm:prSet presAssocID="{5FA01238-142F-4846-B41C-5CEAB5A6FD9D}" presName="parentLeftMargin" presStyleLbl="node1" presStyleIdx="1" presStyleCnt="3"/>
      <dgm:spPr/>
    </dgm:pt>
    <dgm:pt modelId="{50368D84-2B3A-4DAB-9CE9-F647AB4B04F4}" type="pres">
      <dgm:prSet presAssocID="{5FA01238-142F-4846-B41C-5CEAB5A6FD9D}" presName="parentText" presStyleLbl="node1" presStyleIdx="2" presStyleCnt="3">
        <dgm:presLayoutVars>
          <dgm:chMax val="0"/>
          <dgm:bulletEnabled val="1"/>
        </dgm:presLayoutVars>
      </dgm:prSet>
      <dgm:spPr/>
    </dgm:pt>
    <dgm:pt modelId="{A7F647F6-8BC1-46DC-A1F5-09D8DA6ED02B}" type="pres">
      <dgm:prSet presAssocID="{5FA01238-142F-4846-B41C-5CEAB5A6FD9D}" presName="negativeSpace" presStyleCnt="0"/>
      <dgm:spPr/>
    </dgm:pt>
    <dgm:pt modelId="{C9CC93C7-CDCD-4F0D-9B6B-E814AB9140B3}" type="pres">
      <dgm:prSet presAssocID="{5FA01238-142F-4846-B41C-5CEAB5A6FD9D}" presName="childText" presStyleLbl="conFgAcc1" presStyleIdx="2" presStyleCnt="3">
        <dgm:presLayoutVars>
          <dgm:bulletEnabled val="1"/>
        </dgm:presLayoutVars>
      </dgm:prSet>
      <dgm:spPr/>
    </dgm:pt>
  </dgm:ptLst>
  <dgm:cxnLst>
    <dgm:cxn modelId="{A82F3C0C-56DA-4411-83BD-1A2D89236E14}" srcId="{F3E73E11-0DBD-466D-A626-BC0A9F8791C1}" destId="{5FA01238-142F-4846-B41C-5CEAB5A6FD9D}" srcOrd="2" destOrd="0" parTransId="{11288AB6-0122-45E2-969B-BC1652B3A785}" sibTransId="{450932F8-1EE3-4D93-B2D4-9A30CE4D4542}"/>
    <dgm:cxn modelId="{EB33A719-7603-4445-81AE-77C0AA6E7E04}" type="presOf" srcId="{3EC30BA2-B42B-4764-AD6E-A9188C06DA9D}" destId="{A7F94C06-540D-4FA6-9281-32F391719F30}" srcOrd="0" destOrd="0" presId="urn:microsoft.com/office/officeart/2005/8/layout/list1"/>
    <dgm:cxn modelId="{B879B628-8D5A-4FAC-AA6B-BBF0EC2330AA}" type="presOf" srcId="{AED85E35-BFCD-41DD-B9D2-7CC769BFE797}" destId="{EAB8EF09-1706-4C12-9003-D94F7D2E1054}" srcOrd="0" destOrd="1" presId="urn:microsoft.com/office/officeart/2005/8/layout/list1"/>
    <dgm:cxn modelId="{B5772C38-A055-4E2B-9BCA-ADB4DB46ED3D}" srcId="{6C7AEA46-B230-44C3-80FE-F25376E787CE}" destId="{242234A1-DC75-489B-A6DC-533458819C3C}" srcOrd="0" destOrd="0" parTransId="{9B1E3A1D-46D1-493A-8073-4C15608A5C11}" sibTransId="{131D37D6-A4E0-4B75-AB24-956BFD8CBBB9}"/>
    <dgm:cxn modelId="{350D2A41-97DB-404C-B16C-BA0C49C547E6}" type="presOf" srcId="{242234A1-DC75-489B-A6DC-533458819C3C}" destId="{EAB8EF09-1706-4C12-9003-D94F7D2E1054}" srcOrd="0" destOrd="0" presId="urn:microsoft.com/office/officeart/2005/8/layout/list1"/>
    <dgm:cxn modelId="{991CB441-F763-42AF-9F86-809356C0D04A}" type="presOf" srcId="{6B1DBED8-745A-4583-BE94-D0B77B4DF6E1}" destId="{EAB8EF09-1706-4C12-9003-D94F7D2E1054}" srcOrd="0" destOrd="2" presId="urn:microsoft.com/office/officeart/2005/8/layout/list1"/>
    <dgm:cxn modelId="{557DA46A-82D3-4E2F-B525-58D6F8AF4998}" type="presOf" srcId="{6C7AEA46-B230-44C3-80FE-F25376E787CE}" destId="{F7A7FB7E-0628-428A-A761-5EB8D3F123D5}" srcOrd="1" destOrd="0" presId="urn:microsoft.com/office/officeart/2005/8/layout/list1"/>
    <dgm:cxn modelId="{FA30E67D-DC06-4E64-A0F3-FD2634032D59}" type="presOf" srcId="{6C7AEA46-B230-44C3-80FE-F25376E787CE}" destId="{B839BDBC-7538-4407-A64B-8CDA13764984}" srcOrd="0" destOrd="0" presId="urn:microsoft.com/office/officeart/2005/8/layout/list1"/>
    <dgm:cxn modelId="{435A1782-A960-4E12-8B6D-A54AB0A46595}" type="presOf" srcId="{F3E73E11-0DBD-466D-A626-BC0A9F8791C1}" destId="{A0913FB1-95F0-451A-9228-3015DE7D6FCF}" srcOrd="0" destOrd="0" presId="urn:microsoft.com/office/officeart/2005/8/layout/list1"/>
    <dgm:cxn modelId="{79B67F85-0B92-48EA-80D7-14A7BA49398B}" srcId="{6C7AEA46-B230-44C3-80FE-F25376E787CE}" destId="{AED85E35-BFCD-41DD-B9D2-7CC769BFE797}" srcOrd="1" destOrd="0" parTransId="{ECFEC1C4-63DD-4AE2-920F-B0B51464EB10}" sibTransId="{565F59E8-9E89-4DDB-8AEE-0A47953C554A}"/>
    <dgm:cxn modelId="{5168BAB7-14D7-4F72-855B-018AA86E75A0}" type="presOf" srcId="{5FA01238-142F-4846-B41C-5CEAB5A6FD9D}" destId="{217A7F16-2880-4746-91B2-9119F43D9803}" srcOrd="0" destOrd="0" presId="urn:microsoft.com/office/officeart/2005/8/layout/list1"/>
    <dgm:cxn modelId="{6D5FC5C1-3EEC-494C-853B-1A7339392397}" srcId="{F3E73E11-0DBD-466D-A626-BC0A9F8791C1}" destId="{3EC30BA2-B42B-4764-AD6E-A9188C06DA9D}" srcOrd="1" destOrd="0" parTransId="{1B959C70-1CD4-4B9C-8A53-5BF8BE727C36}" sibTransId="{462D5593-DB65-454A-A815-4DA0B18D3272}"/>
    <dgm:cxn modelId="{1E7A3AE1-2842-4EBA-A2E5-BD6388E11EED}" srcId="{6C7AEA46-B230-44C3-80FE-F25376E787CE}" destId="{6B1DBED8-745A-4583-BE94-D0B77B4DF6E1}" srcOrd="2" destOrd="0" parTransId="{07DD011A-B3CD-471D-BAD1-D9A34AC46702}" sibTransId="{6E5DBC19-E7E1-45E9-98EF-2DE75CEDB88D}"/>
    <dgm:cxn modelId="{522CC9F5-6A8F-443C-848C-084B6F795B1E}" type="presOf" srcId="{3EC30BA2-B42B-4764-AD6E-A9188C06DA9D}" destId="{8757CC7F-62C5-4119-B0FB-1AC5B37458DA}" srcOrd="1" destOrd="0" presId="urn:microsoft.com/office/officeart/2005/8/layout/list1"/>
    <dgm:cxn modelId="{A986D3F5-3D18-4ABF-A19F-D207DFCBB15A}" type="presOf" srcId="{5FA01238-142F-4846-B41C-5CEAB5A6FD9D}" destId="{50368D84-2B3A-4DAB-9CE9-F647AB4B04F4}" srcOrd="1" destOrd="0" presId="urn:microsoft.com/office/officeart/2005/8/layout/list1"/>
    <dgm:cxn modelId="{EE946AF8-C799-4260-8A25-3AA8CE76B1F9}" srcId="{F3E73E11-0DBD-466D-A626-BC0A9F8791C1}" destId="{6C7AEA46-B230-44C3-80FE-F25376E787CE}" srcOrd="0" destOrd="0" parTransId="{E2027598-F4B8-4D80-A8F1-62A5764AC3C0}" sibTransId="{82EED677-B1B5-4A2A-98C5-F315B53B952B}"/>
    <dgm:cxn modelId="{C1C9D8DD-28A3-4F32-B6C5-34EAA3B9BD25}" type="presParOf" srcId="{A0913FB1-95F0-451A-9228-3015DE7D6FCF}" destId="{3C08ACBB-6177-4DFF-BFC0-5F34D3F8B55F}" srcOrd="0" destOrd="0" presId="urn:microsoft.com/office/officeart/2005/8/layout/list1"/>
    <dgm:cxn modelId="{11AF5D9C-837C-4B98-B84A-2363C2E540F9}" type="presParOf" srcId="{3C08ACBB-6177-4DFF-BFC0-5F34D3F8B55F}" destId="{B839BDBC-7538-4407-A64B-8CDA13764984}" srcOrd="0" destOrd="0" presId="urn:microsoft.com/office/officeart/2005/8/layout/list1"/>
    <dgm:cxn modelId="{4E4598A9-86C0-45BE-A6AC-6106328313E2}" type="presParOf" srcId="{3C08ACBB-6177-4DFF-BFC0-5F34D3F8B55F}" destId="{F7A7FB7E-0628-428A-A761-5EB8D3F123D5}" srcOrd="1" destOrd="0" presId="urn:microsoft.com/office/officeart/2005/8/layout/list1"/>
    <dgm:cxn modelId="{8128AB2B-00D5-4BD2-A09B-CB1241DC512E}" type="presParOf" srcId="{A0913FB1-95F0-451A-9228-3015DE7D6FCF}" destId="{BE486142-4B13-4200-ADFD-51C17C6BB9E0}" srcOrd="1" destOrd="0" presId="urn:microsoft.com/office/officeart/2005/8/layout/list1"/>
    <dgm:cxn modelId="{13384EA8-0462-42CE-A90B-DD608CB86461}" type="presParOf" srcId="{A0913FB1-95F0-451A-9228-3015DE7D6FCF}" destId="{EAB8EF09-1706-4C12-9003-D94F7D2E1054}" srcOrd="2" destOrd="0" presId="urn:microsoft.com/office/officeart/2005/8/layout/list1"/>
    <dgm:cxn modelId="{26F2F8EF-09BF-44F7-B7DE-AC03167D99D3}" type="presParOf" srcId="{A0913FB1-95F0-451A-9228-3015DE7D6FCF}" destId="{3D4BCBF0-2729-40ED-BCCB-92DC0FE9FA16}" srcOrd="3" destOrd="0" presId="urn:microsoft.com/office/officeart/2005/8/layout/list1"/>
    <dgm:cxn modelId="{8284911C-B46F-4926-9B42-F47ACF263830}" type="presParOf" srcId="{A0913FB1-95F0-451A-9228-3015DE7D6FCF}" destId="{8364A613-6C3E-4448-89F0-A5CDEB063FD0}" srcOrd="4" destOrd="0" presId="urn:microsoft.com/office/officeart/2005/8/layout/list1"/>
    <dgm:cxn modelId="{0C4C9378-3199-4C09-B693-32551B71167B}" type="presParOf" srcId="{8364A613-6C3E-4448-89F0-A5CDEB063FD0}" destId="{A7F94C06-540D-4FA6-9281-32F391719F30}" srcOrd="0" destOrd="0" presId="urn:microsoft.com/office/officeart/2005/8/layout/list1"/>
    <dgm:cxn modelId="{0CD6E66A-C460-4289-8A61-75CA0DF2E6F7}" type="presParOf" srcId="{8364A613-6C3E-4448-89F0-A5CDEB063FD0}" destId="{8757CC7F-62C5-4119-B0FB-1AC5B37458DA}" srcOrd="1" destOrd="0" presId="urn:microsoft.com/office/officeart/2005/8/layout/list1"/>
    <dgm:cxn modelId="{F79146F3-9256-4B4A-AA02-EED4F3C25A48}" type="presParOf" srcId="{A0913FB1-95F0-451A-9228-3015DE7D6FCF}" destId="{0240B7B9-DA86-4C2E-AE98-FBF09C1AD50B}" srcOrd="5" destOrd="0" presId="urn:microsoft.com/office/officeart/2005/8/layout/list1"/>
    <dgm:cxn modelId="{272162FB-EC77-428C-9596-2D92DD57339A}" type="presParOf" srcId="{A0913FB1-95F0-451A-9228-3015DE7D6FCF}" destId="{6D95A72A-4AB6-4806-A5EB-BAB74B5C75A9}" srcOrd="6" destOrd="0" presId="urn:microsoft.com/office/officeart/2005/8/layout/list1"/>
    <dgm:cxn modelId="{27219D33-7B42-494F-84E7-1A6A91557654}" type="presParOf" srcId="{A0913FB1-95F0-451A-9228-3015DE7D6FCF}" destId="{D5802197-B143-4719-9D27-41B065B72816}" srcOrd="7" destOrd="0" presId="urn:microsoft.com/office/officeart/2005/8/layout/list1"/>
    <dgm:cxn modelId="{0B6B6B27-1E38-48DB-AA8C-D58C3086000D}" type="presParOf" srcId="{A0913FB1-95F0-451A-9228-3015DE7D6FCF}" destId="{E1F5A242-CCB1-426D-8385-A586705A5F70}" srcOrd="8" destOrd="0" presId="urn:microsoft.com/office/officeart/2005/8/layout/list1"/>
    <dgm:cxn modelId="{70717118-CF65-40E7-840E-2FFBA8A62E23}" type="presParOf" srcId="{E1F5A242-CCB1-426D-8385-A586705A5F70}" destId="{217A7F16-2880-4746-91B2-9119F43D9803}" srcOrd="0" destOrd="0" presId="urn:microsoft.com/office/officeart/2005/8/layout/list1"/>
    <dgm:cxn modelId="{15AFDCEA-293D-40BB-AC3B-9FDF5E6423BC}" type="presParOf" srcId="{E1F5A242-CCB1-426D-8385-A586705A5F70}" destId="{50368D84-2B3A-4DAB-9CE9-F647AB4B04F4}" srcOrd="1" destOrd="0" presId="urn:microsoft.com/office/officeart/2005/8/layout/list1"/>
    <dgm:cxn modelId="{3D58730D-BD84-4D45-9618-236183B04D98}" type="presParOf" srcId="{A0913FB1-95F0-451A-9228-3015DE7D6FCF}" destId="{A7F647F6-8BC1-46DC-A1F5-09D8DA6ED02B}" srcOrd="9" destOrd="0" presId="urn:microsoft.com/office/officeart/2005/8/layout/list1"/>
    <dgm:cxn modelId="{7D974F81-7565-4E38-A391-6AD7DBEF3882}" type="presParOf" srcId="{A0913FB1-95F0-451A-9228-3015DE7D6FCF}" destId="{C9CC93C7-CDCD-4F0D-9B6B-E814AB9140B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79513D-EFAB-4D69-A7A8-641D54AC4548}"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C1B874CC-F95F-424D-8192-227808B03CC6}">
      <dgm:prSet custT="1"/>
      <dgm:spPr/>
      <dgm:t>
        <a:bodyPr/>
        <a:lstStyle/>
        <a:p>
          <a:pPr>
            <a:lnSpc>
              <a:spcPct val="100000"/>
            </a:lnSpc>
          </a:pPr>
          <a:r>
            <a:rPr lang="en-US" sz="1400" b="0" dirty="0">
              <a:solidFill>
                <a:schemeClr val="tx1"/>
              </a:solidFill>
            </a:rPr>
            <a:t>EMS response times does vary by borough. The Bronx has the longest median response time at 9.68 minutes, followed by Manhattan at 9.08 minutes. Staten Island has the shortest median response time at 7.53 minutes. Brooklyn has the highest incident volume, but not the worst response times. </a:t>
          </a:r>
        </a:p>
      </dgm:t>
    </dgm:pt>
    <dgm:pt modelId="{956D1E26-B1C4-422C-A8BE-0B21D5F05444}" type="parTrans" cxnId="{0AF315FF-33F9-4830-B633-8DBA95A30F2A}">
      <dgm:prSet/>
      <dgm:spPr/>
      <dgm:t>
        <a:bodyPr/>
        <a:lstStyle/>
        <a:p>
          <a:endParaRPr lang="en-US" sz="1400" b="0">
            <a:solidFill>
              <a:schemeClr val="tx1"/>
            </a:solidFill>
          </a:endParaRPr>
        </a:p>
      </dgm:t>
    </dgm:pt>
    <dgm:pt modelId="{79C92003-7123-443F-97E0-647ECF08084D}" type="sibTrans" cxnId="{0AF315FF-33F9-4830-B633-8DBA95A30F2A}">
      <dgm:prSet/>
      <dgm:spPr/>
      <dgm:t>
        <a:bodyPr/>
        <a:lstStyle/>
        <a:p>
          <a:endParaRPr lang="en-US" sz="1400" b="0">
            <a:solidFill>
              <a:schemeClr val="tx1"/>
            </a:solidFill>
          </a:endParaRPr>
        </a:p>
      </dgm:t>
    </dgm:pt>
    <dgm:pt modelId="{D5229447-FA86-4A2D-B025-988D7CFE39EC}">
      <dgm:prSet custT="1"/>
      <dgm:spPr>
        <a:solidFill>
          <a:srgbClr val="E4EEEE"/>
        </a:solidFill>
      </dgm:spPr>
      <dgm:t>
        <a:bodyPr/>
        <a:lstStyle/>
        <a:p>
          <a:pPr>
            <a:lnSpc>
              <a:spcPct val="100000"/>
            </a:lnSpc>
          </a:pPr>
          <a:r>
            <a:rPr lang="en-US" sz="1400" b="0" dirty="0">
              <a:solidFill>
                <a:schemeClr val="tx1"/>
              </a:solidFill>
            </a:rPr>
            <a:t>Staten Island consistently performs better than the other boroughs. It has the lowest median response time, lowest average response time, lowest percentage over 10 minutes, and lowest held percentage. Only about 28% of Staten Island incidents exceeded 10 minutes, compared with nearly 48% in the Bronx.</a:t>
          </a:r>
        </a:p>
      </dgm:t>
    </dgm:pt>
    <dgm:pt modelId="{55898647-5DFD-43DB-8898-740BDC7D3542}" type="parTrans" cxnId="{8B715523-02C6-4244-8A2A-0352D90D4FED}">
      <dgm:prSet/>
      <dgm:spPr/>
      <dgm:t>
        <a:bodyPr/>
        <a:lstStyle/>
        <a:p>
          <a:endParaRPr lang="en-US" sz="1400" b="0">
            <a:solidFill>
              <a:schemeClr val="tx1"/>
            </a:solidFill>
          </a:endParaRPr>
        </a:p>
      </dgm:t>
    </dgm:pt>
    <dgm:pt modelId="{6AAA5ECF-E2C6-4ACC-B05C-7B4BACBC2F8A}" type="sibTrans" cxnId="{8B715523-02C6-4244-8A2A-0352D90D4FED}">
      <dgm:prSet/>
      <dgm:spPr/>
      <dgm:t>
        <a:bodyPr/>
        <a:lstStyle/>
        <a:p>
          <a:endParaRPr lang="en-US" sz="1400" b="0">
            <a:solidFill>
              <a:schemeClr val="tx1"/>
            </a:solidFill>
          </a:endParaRPr>
        </a:p>
      </dgm:t>
    </dgm:pt>
    <dgm:pt modelId="{262AFE9E-642D-4E03-950B-0AE5C8D58C07}">
      <dgm:prSet custT="1"/>
      <dgm:spPr>
        <a:solidFill>
          <a:srgbClr val="E4EEEE"/>
        </a:solidFill>
      </dgm:spPr>
      <dgm:t>
        <a:bodyPr/>
        <a:lstStyle/>
        <a:p>
          <a:pPr>
            <a:lnSpc>
              <a:spcPct val="100000"/>
            </a:lnSpc>
          </a:pPr>
          <a:r>
            <a:rPr lang="en-US" sz="1400" b="0" dirty="0">
              <a:solidFill>
                <a:schemeClr val="tx1"/>
              </a:solidFill>
            </a:rPr>
            <a:t>The Bronx shows the greatest response-time burden. It has the highest median response time, highest mean response time, and highest percentage of calls over 10 minutes. Nearly 48% of Bronx EMS incidents exceeded 10 minutes. In the monthly trend chart, the Bronx line is usually above the other boroughs, suggesting that its longer response times are persistent rather than an outlier. </a:t>
          </a:r>
        </a:p>
      </dgm:t>
    </dgm:pt>
    <dgm:pt modelId="{BEDB418A-2F15-45C7-B52E-237F525AB48F}" type="parTrans" cxnId="{826DA6D5-5426-4C62-875A-3FD46275897D}">
      <dgm:prSet/>
      <dgm:spPr/>
      <dgm:t>
        <a:bodyPr/>
        <a:lstStyle/>
        <a:p>
          <a:endParaRPr lang="en-US" sz="1400" b="0">
            <a:solidFill>
              <a:schemeClr val="tx1"/>
            </a:solidFill>
          </a:endParaRPr>
        </a:p>
      </dgm:t>
    </dgm:pt>
    <dgm:pt modelId="{EDA27F29-B4EE-4C0D-82B4-667621282361}" type="sibTrans" cxnId="{826DA6D5-5426-4C62-875A-3FD46275897D}">
      <dgm:prSet/>
      <dgm:spPr/>
      <dgm:t>
        <a:bodyPr/>
        <a:lstStyle/>
        <a:p>
          <a:endParaRPr lang="en-US" sz="1400" b="0">
            <a:solidFill>
              <a:schemeClr val="tx1"/>
            </a:solidFill>
          </a:endParaRPr>
        </a:p>
      </dgm:t>
    </dgm:pt>
    <dgm:pt modelId="{F48B8B95-C39A-4361-94B3-51DCE8A1A885}" type="pres">
      <dgm:prSet presAssocID="{0A79513D-EFAB-4D69-A7A8-641D54AC4548}" presName="root" presStyleCnt="0">
        <dgm:presLayoutVars>
          <dgm:dir/>
          <dgm:resizeHandles val="exact"/>
        </dgm:presLayoutVars>
      </dgm:prSet>
      <dgm:spPr/>
    </dgm:pt>
    <dgm:pt modelId="{FCBD81EE-3153-46C8-8322-E8FEFE23BD97}" type="pres">
      <dgm:prSet presAssocID="{C1B874CC-F95F-424D-8192-227808B03CC6}" presName="compNode" presStyleCnt="0"/>
      <dgm:spPr/>
    </dgm:pt>
    <dgm:pt modelId="{3FE91302-0D06-455F-B143-C8C0EF3E8654}" type="pres">
      <dgm:prSet presAssocID="{C1B874CC-F95F-424D-8192-227808B03CC6}" presName="bgRect" presStyleLbl="bgShp" presStyleIdx="0" presStyleCnt="3"/>
      <dgm:spPr>
        <a:solidFill>
          <a:srgbClr val="E4EEEE"/>
        </a:solidFill>
      </dgm:spPr>
    </dgm:pt>
    <dgm:pt modelId="{ACFC36F5-BE2D-43CF-8C55-81C2845AF127}" type="pres">
      <dgm:prSet presAssocID="{C1B874CC-F95F-424D-8192-227808B03CC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mbulance"/>
        </a:ext>
      </dgm:extLst>
    </dgm:pt>
    <dgm:pt modelId="{EE152EDC-A21C-4734-8BA8-411DAEE45542}" type="pres">
      <dgm:prSet presAssocID="{C1B874CC-F95F-424D-8192-227808B03CC6}" presName="spaceRect" presStyleCnt="0"/>
      <dgm:spPr/>
    </dgm:pt>
    <dgm:pt modelId="{9CC9CE11-6127-4982-85A4-71809AF9E6A7}" type="pres">
      <dgm:prSet presAssocID="{C1B874CC-F95F-424D-8192-227808B03CC6}" presName="parTx" presStyleLbl="revTx" presStyleIdx="0" presStyleCnt="3">
        <dgm:presLayoutVars>
          <dgm:chMax val="0"/>
          <dgm:chPref val="0"/>
        </dgm:presLayoutVars>
      </dgm:prSet>
      <dgm:spPr/>
    </dgm:pt>
    <dgm:pt modelId="{0D6D7139-00A6-4213-8081-0143DB2FDB80}" type="pres">
      <dgm:prSet presAssocID="{79C92003-7123-443F-97E0-647ECF08084D}" presName="sibTrans" presStyleCnt="0"/>
      <dgm:spPr/>
    </dgm:pt>
    <dgm:pt modelId="{2DABA037-7CEE-43CC-B291-E690C25EC9B0}" type="pres">
      <dgm:prSet presAssocID="{262AFE9E-642D-4E03-950B-0AE5C8D58C07}" presName="compNode" presStyleCnt="0"/>
      <dgm:spPr/>
    </dgm:pt>
    <dgm:pt modelId="{10D51F48-5892-40D7-B9AE-A5CFEEE54D28}" type="pres">
      <dgm:prSet presAssocID="{262AFE9E-642D-4E03-950B-0AE5C8D58C07}" presName="bgRect" presStyleLbl="bgShp" presStyleIdx="1" presStyleCnt="3"/>
      <dgm:spPr>
        <a:solidFill>
          <a:srgbClr val="E4EEEE"/>
        </a:solidFill>
      </dgm:spPr>
    </dgm:pt>
    <dgm:pt modelId="{4825ABB6-29C4-4BA9-BE7B-EF4A48CAEFA1}" type="pres">
      <dgm:prSet presAssocID="{262AFE9E-642D-4E03-950B-0AE5C8D58C0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Graph with Downward Trend"/>
        </a:ext>
      </dgm:extLst>
    </dgm:pt>
    <dgm:pt modelId="{3EA7C67E-3BA0-4E79-9FD5-04059328F841}" type="pres">
      <dgm:prSet presAssocID="{262AFE9E-642D-4E03-950B-0AE5C8D58C07}" presName="spaceRect" presStyleCnt="0"/>
      <dgm:spPr/>
    </dgm:pt>
    <dgm:pt modelId="{915BD098-8258-4B86-A487-39295F2995E0}" type="pres">
      <dgm:prSet presAssocID="{262AFE9E-642D-4E03-950B-0AE5C8D58C07}" presName="parTx" presStyleLbl="revTx" presStyleIdx="1" presStyleCnt="3">
        <dgm:presLayoutVars>
          <dgm:chMax val="0"/>
          <dgm:chPref val="0"/>
        </dgm:presLayoutVars>
      </dgm:prSet>
      <dgm:spPr/>
    </dgm:pt>
    <dgm:pt modelId="{B68B4410-48FE-449D-820E-C3B2D791132E}" type="pres">
      <dgm:prSet presAssocID="{EDA27F29-B4EE-4C0D-82B4-667621282361}" presName="sibTrans" presStyleCnt="0"/>
      <dgm:spPr/>
    </dgm:pt>
    <dgm:pt modelId="{C02D3A68-48E1-4A00-BAB3-DD42593425FA}" type="pres">
      <dgm:prSet presAssocID="{D5229447-FA86-4A2D-B025-988D7CFE39EC}" presName="compNode" presStyleCnt="0"/>
      <dgm:spPr/>
    </dgm:pt>
    <dgm:pt modelId="{0EECF8B7-D29D-4D96-BE01-9652F4FB019C}" type="pres">
      <dgm:prSet presAssocID="{D5229447-FA86-4A2D-B025-988D7CFE39EC}" presName="bgRect" presStyleLbl="bgShp" presStyleIdx="2" presStyleCnt="3"/>
      <dgm:spPr>
        <a:solidFill>
          <a:srgbClr val="E4EEEE"/>
        </a:solidFill>
      </dgm:spPr>
    </dgm:pt>
    <dgm:pt modelId="{651CCDD8-C7B8-4031-A1F7-4FBC324E132B}" type="pres">
      <dgm:prSet presAssocID="{D5229447-FA86-4A2D-B025-988D7CFE39EC}"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peedometer Low with solid fill"/>
        </a:ext>
      </dgm:extLst>
    </dgm:pt>
    <dgm:pt modelId="{09406109-48F5-4512-A471-FE9FA69C0001}" type="pres">
      <dgm:prSet presAssocID="{D5229447-FA86-4A2D-B025-988D7CFE39EC}" presName="spaceRect" presStyleCnt="0"/>
      <dgm:spPr/>
    </dgm:pt>
    <dgm:pt modelId="{12F6B3AB-B8ED-4874-A31B-790FA5218823}" type="pres">
      <dgm:prSet presAssocID="{D5229447-FA86-4A2D-B025-988D7CFE39EC}" presName="parTx" presStyleLbl="revTx" presStyleIdx="2" presStyleCnt="3">
        <dgm:presLayoutVars>
          <dgm:chMax val="0"/>
          <dgm:chPref val="0"/>
        </dgm:presLayoutVars>
      </dgm:prSet>
      <dgm:spPr/>
    </dgm:pt>
  </dgm:ptLst>
  <dgm:cxnLst>
    <dgm:cxn modelId="{8B715523-02C6-4244-8A2A-0352D90D4FED}" srcId="{0A79513D-EFAB-4D69-A7A8-641D54AC4548}" destId="{D5229447-FA86-4A2D-B025-988D7CFE39EC}" srcOrd="2" destOrd="0" parTransId="{55898647-5DFD-43DB-8898-740BDC7D3542}" sibTransId="{6AAA5ECF-E2C6-4ACC-B05C-7B4BACBC2F8A}"/>
    <dgm:cxn modelId="{A2E8DD24-3385-40BC-907B-B162FDE33005}" type="presOf" srcId="{C1B874CC-F95F-424D-8192-227808B03CC6}" destId="{9CC9CE11-6127-4982-85A4-71809AF9E6A7}" srcOrd="0" destOrd="0" presId="urn:microsoft.com/office/officeart/2018/2/layout/IconVerticalSolidList"/>
    <dgm:cxn modelId="{5BFE612B-0F13-4806-8DC3-234A569EA10D}" type="presOf" srcId="{262AFE9E-642D-4E03-950B-0AE5C8D58C07}" destId="{915BD098-8258-4B86-A487-39295F2995E0}" srcOrd="0" destOrd="0" presId="urn:microsoft.com/office/officeart/2018/2/layout/IconVerticalSolidList"/>
    <dgm:cxn modelId="{27E6E0A6-B4F5-4186-9991-5E6D87E836CD}" type="presOf" srcId="{D5229447-FA86-4A2D-B025-988D7CFE39EC}" destId="{12F6B3AB-B8ED-4874-A31B-790FA5218823}" srcOrd="0" destOrd="0" presId="urn:microsoft.com/office/officeart/2018/2/layout/IconVerticalSolidList"/>
    <dgm:cxn modelId="{C04FAEBB-B7EB-4560-B858-A609043C569A}" type="presOf" srcId="{0A79513D-EFAB-4D69-A7A8-641D54AC4548}" destId="{F48B8B95-C39A-4361-94B3-51DCE8A1A885}" srcOrd="0" destOrd="0" presId="urn:microsoft.com/office/officeart/2018/2/layout/IconVerticalSolidList"/>
    <dgm:cxn modelId="{826DA6D5-5426-4C62-875A-3FD46275897D}" srcId="{0A79513D-EFAB-4D69-A7A8-641D54AC4548}" destId="{262AFE9E-642D-4E03-950B-0AE5C8D58C07}" srcOrd="1" destOrd="0" parTransId="{BEDB418A-2F15-45C7-B52E-237F525AB48F}" sibTransId="{EDA27F29-B4EE-4C0D-82B4-667621282361}"/>
    <dgm:cxn modelId="{0AF315FF-33F9-4830-B633-8DBA95A30F2A}" srcId="{0A79513D-EFAB-4D69-A7A8-641D54AC4548}" destId="{C1B874CC-F95F-424D-8192-227808B03CC6}" srcOrd="0" destOrd="0" parTransId="{956D1E26-B1C4-422C-A8BE-0B21D5F05444}" sibTransId="{79C92003-7123-443F-97E0-647ECF08084D}"/>
    <dgm:cxn modelId="{B6EA6982-6CA3-4004-8A65-D42E26FFE6A5}" type="presParOf" srcId="{F48B8B95-C39A-4361-94B3-51DCE8A1A885}" destId="{FCBD81EE-3153-46C8-8322-E8FEFE23BD97}" srcOrd="0" destOrd="0" presId="urn:microsoft.com/office/officeart/2018/2/layout/IconVerticalSolidList"/>
    <dgm:cxn modelId="{1B3AF8BE-3EB9-49F6-8B17-8CA41459C36A}" type="presParOf" srcId="{FCBD81EE-3153-46C8-8322-E8FEFE23BD97}" destId="{3FE91302-0D06-455F-B143-C8C0EF3E8654}" srcOrd="0" destOrd="0" presId="urn:microsoft.com/office/officeart/2018/2/layout/IconVerticalSolidList"/>
    <dgm:cxn modelId="{DCD27EC5-D864-4E3B-878C-05AFA3720E92}" type="presParOf" srcId="{FCBD81EE-3153-46C8-8322-E8FEFE23BD97}" destId="{ACFC36F5-BE2D-43CF-8C55-81C2845AF127}" srcOrd="1" destOrd="0" presId="urn:microsoft.com/office/officeart/2018/2/layout/IconVerticalSolidList"/>
    <dgm:cxn modelId="{309BF3E1-94F5-47CA-BF99-299CA9F44569}" type="presParOf" srcId="{FCBD81EE-3153-46C8-8322-E8FEFE23BD97}" destId="{EE152EDC-A21C-4734-8BA8-411DAEE45542}" srcOrd="2" destOrd="0" presId="urn:microsoft.com/office/officeart/2018/2/layout/IconVerticalSolidList"/>
    <dgm:cxn modelId="{37EC53BF-DED6-47DE-B1CB-255E068C266C}" type="presParOf" srcId="{FCBD81EE-3153-46C8-8322-E8FEFE23BD97}" destId="{9CC9CE11-6127-4982-85A4-71809AF9E6A7}" srcOrd="3" destOrd="0" presId="urn:microsoft.com/office/officeart/2018/2/layout/IconVerticalSolidList"/>
    <dgm:cxn modelId="{7EA3D306-AC3C-40E2-B38A-1F996874339F}" type="presParOf" srcId="{F48B8B95-C39A-4361-94B3-51DCE8A1A885}" destId="{0D6D7139-00A6-4213-8081-0143DB2FDB80}" srcOrd="1" destOrd="0" presId="urn:microsoft.com/office/officeart/2018/2/layout/IconVerticalSolidList"/>
    <dgm:cxn modelId="{D80BD14F-1B00-4F28-8DD6-BBC34252C358}" type="presParOf" srcId="{F48B8B95-C39A-4361-94B3-51DCE8A1A885}" destId="{2DABA037-7CEE-43CC-B291-E690C25EC9B0}" srcOrd="2" destOrd="0" presId="urn:microsoft.com/office/officeart/2018/2/layout/IconVerticalSolidList"/>
    <dgm:cxn modelId="{ECED0DD2-6865-4C70-A9E7-120CC480536D}" type="presParOf" srcId="{2DABA037-7CEE-43CC-B291-E690C25EC9B0}" destId="{10D51F48-5892-40D7-B9AE-A5CFEEE54D28}" srcOrd="0" destOrd="0" presId="urn:microsoft.com/office/officeart/2018/2/layout/IconVerticalSolidList"/>
    <dgm:cxn modelId="{B2DA793D-49C4-4BA7-A90E-0875A8206FCF}" type="presParOf" srcId="{2DABA037-7CEE-43CC-B291-E690C25EC9B0}" destId="{4825ABB6-29C4-4BA9-BE7B-EF4A48CAEFA1}" srcOrd="1" destOrd="0" presId="urn:microsoft.com/office/officeart/2018/2/layout/IconVerticalSolidList"/>
    <dgm:cxn modelId="{65C6749A-25EF-4D9D-AF1F-7C3B629E1630}" type="presParOf" srcId="{2DABA037-7CEE-43CC-B291-E690C25EC9B0}" destId="{3EA7C67E-3BA0-4E79-9FD5-04059328F841}" srcOrd="2" destOrd="0" presId="urn:microsoft.com/office/officeart/2018/2/layout/IconVerticalSolidList"/>
    <dgm:cxn modelId="{587C7E5F-D007-4A8A-8B78-0F95745267C0}" type="presParOf" srcId="{2DABA037-7CEE-43CC-B291-E690C25EC9B0}" destId="{915BD098-8258-4B86-A487-39295F2995E0}" srcOrd="3" destOrd="0" presId="urn:microsoft.com/office/officeart/2018/2/layout/IconVerticalSolidList"/>
    <dgm:cxn modelId="{E44AA9C5-8A87-4A05-9419-703613D06A75}" type="presParOf" srcId="{F48B8B95-C39A-4361-94B3-51DCE8A1A885}" destId="{B68B4410-48FE-449D-820E-C3B2D791132E}" srcOrd="3" destOrd="0" presId="urn:microsoft.com/office/officeart/2018/2/layout/IconVerticalSolidList"/>
    <dgm:cxn modelId="{A8BFE690-24CC-4EA7-B1C2-722A2E4FD60C}" type="presParOf" srcId="{F48B8B95-C39A-4361-94B3-51DCE8A1A885}" destId="{C02D3A68-48E1-4A00-BAB3-DD42593425FA}" srcOrd="4" destOrd="0" presId="urn:microsoft.com/office/officeart/2018/2/layout/IconVerticalSolidList"/>
    <dgm:cxn modelId="{A542FA7D-F6AA-4DDB-AED4-2EAEAEF2D815}" type="presParOf" srcId="{C02D3A68-48E1-4A00-BAB3-DD42593425FA}" destId="{0EECF8B7-D29D-4D96-BE01-9652F4FB019C}" srcOrd="0" destOrd="0" presId="urn:microsoft.com/office/officeart/2018/2/layout/IconVerticalSolidList"/>
    <dgm:cxn modelId="{83BBEED2-6C3F-483F-AEB0-14137912667E}" type="presParOf" srcId="{C02D3A68-48E1-4A00-BAB3-DD42593425FA}" destId="{651CCDD8-C7B8-4031-A1F7-4FBC324E132B}" srcOrd="1" destOrd="0" presId="urn:microsoft.com/office/officeart/2018/2/layout/IconVerticalSolidList"/>
    <dgm:cxn modelId="{41AE4B06-F17E-41E0-A547-8A27F8FC424F}" type="presParOf" srcId="{C02D3A68-48E1-4A00-BAB3-DD42593425FA}" destId="{09406109-48F5-4512-A471-FE9FA69C0001}" srcOrd="2" destOrd="0" presId="urn:microsoft.com/office/officeart/2018/2/layout/IconVerticalSolidList"/>
    <dgm:cxn modelId="{4717EF44-06F1-428F-AFE6-322BDC65D8EC}" type="presParOf" srcId="{C02D3A68-48E1-4A00-BAB3-DD42593425FA}" destId="{12F6B3AB-B8ED-4874-A31B-790FA521882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8EF09-1706-4C12-9003-D94F7D2E1054}">
      <dsp:nvSpPr>
        <dsp:cNvPr id="0" name=""/>
        <dsp:cNvSpPr/>
      </dsp:nvSpPr>
      <dsp:spPr>
        <a:xfrm>
          <a:off x="0" y="430411"/>
          <a:ext cx="10515600" cy="16758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83184" rIns="816127"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solidFill>
                <a:schemeClr val="tx1"/>
              </a:solidFill>
            </a:rPr>
            <a:t>Timestamp fields from strings to datetime objects.</a:t>
          </a:r>
        </a:p>
        <a:p>
          <a:pPr marL="228600" lvl="1" indent="-228600" algn="l" defTabSz="889000">
            <a:lnSpc>
              <a:spcPct val="90000"/>
            </a:lnSpc>
            <a:spcBef>
              <a:spcPct val="0"/>
            </a:spcBef>
            <a:spcAft>
              <a:spcPct val="15000"/>
            </a:spcAft>
            <a:buChar char="•"/>
          </a:pPr>
          <a:r>
            <a:rPr lang="en-US" sz="2000" kern="1200">
              <a:solidFill>
                <a:schemeClr val="tx1"/>
              </a:solidFill>
            </a:rPr>
            <a:t>Response time from seconds to minutes.</a:t>
          </a:r>
        </a:p>
        <a:p>
          <a:pPr marL="228600" lvl="1" indent="-228600" algn="l" defTabSz="889000">
            <a:lnSpc>
              <a:spcPct val="90000"/>
            </a:lnSpc>
            <a:spcBef>
              <a:spcPct val="0"/>
            </a:spcBef>
            <a:spcAft>
              <a:spcPct val="15000"/>
            </a:spcAft>
            <a:buChar char="•"/>
          </a:pPr>
          <a:r>
            <a:rPr lang="en-US" sz="2000" kern="1200">
              <a:solidFill>
                <a:schemeClr val="tx1"/>
              </a:solidFill>
            </a:rPr>
            <a:t>Severity code from text to numeric values. </a:t>
          </a:r>
        </a:p>
      </dsp:txBody>
      <dsp:txXfrm>
        <a:off x="0" y="430411"/>
        <a:ext cx="10515600" cy="1675800"/>
      </dsp:txXfrm>
    </dsp:sp>
    <dsp:sp modelId="{F7A7FB7E-0628-428A-A761-5EB8D3F123D5}">
      <dsp:nvSpPr>
        <dsp:cNvPr id="0" name=""/>
        <dsp:cNvSpPr/>
      </dsp:nvSpPr>
      <dsp:spPr>
        <a:xfrm>
          <a:off x="525780" y="17131"/>
          <a:ext cx="7360920" cy="826560"/>
        </a:xfrm>
        <a:prstGeom prst="roundRect">
          <a:avLst/>
        </a:prstGeom>
        <a:solidFill>
          <a:srgbClr val="BFD4DC"/>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Convert </a:t>
          </a:r>
        </a:p>
      </dsp:txBody>
      <dsp:txXfrm>
        <a:off x="566129" y="57480"/>
        <a:ext cx="7280222" cy="745862"/>
      </dsp:txXfrm>
    </dsp:sp>
    <dsp:sp modelId="{6D95A72A-4AB6-4806-A5EB-BAB74B5C75A9}">
      <dsp:nvSpPr>
        <dsp:cNvPr id="0" name=""/>
        <dsp:cNvSpPr/>
      </dsp:nvSpPr>
      <dsp:spPr>
        <a:xfrm>
          <a:off x="0" y="2670691"/>
          <a:ext cx="10515600" cy="7056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757CC7F-62C5-4119-B0FB-1AC5B37458DA}">
      <dsp:nvSpPr>
        <dsp:cNvPr id="0" name=""/>
        <dsp:cNvSpPr/>
      </dsp:nvSpPr>
      <dsp:spPr>
        <a:xfrm>
          <a:off x="525780" y="2257411"/>
          <a:ext cx="7360920" cy="826560"/>
        </a:xfrm>
        <a:prstGeom prst="roundRect">
          <a:avLst/>
        </a:prstGeom>
        <a:solidFill>
          <a:srgbClr val="BFD4DC"/>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Extract hour, month, weekday, and weekend from </a:t>
          </a:r>
          <a:r>
            <a:rPr lang="en-US" sz="2000" b="1" kern="1200" dirty="0" err="1">
              <a:solidFill>
                <a:schemeClr val="tx1"/>
              </a:solidFill>
            </a:rPr>
            <a:t>incident_datetime</a:t>
          </a:r>
          <a:r>
            <a:rPr lang="en-US" sz="2000" b="1" kern="1200" dirty="0">
              <a:solidFill>
                <a:schemeClr val="tx1"/>
              </a:solidFill>
            </a:rPr>
            <a:t>.</a:t>
          </a:r>
        </a:p>
      </dsp:txBody>
      <dsp:txXfrm>
        <a:off x="566129" y="2297760"/>
        <a:ext cx="7280222" cy="745862"/>
      </dsp:txXfrm>
    </dsp:sp>
    <dsp:sp modelId="{C9CC93C7-CDCD-4F0D-9B6B-E814AB9140B3}">
      <dsp:nvSpPr>
        <dsp:cNvPr id="0" name=""/>
        <dsp:cNvSpPr/>
      </dsp:nvSpPr>
      <dsp:spPr>
        <a:xfrm>
          <a:off x="0" y="3940771"/>
          <a:ext cx="10515600" cy="705600"/>
        </a:xfrm>
        <a:prstGeom prst="rect">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368D84-2B3A-4DAB-9CE9-F647AB4B04F4}">
      <dsp:nvSpPr>
        <dsp:cNvPr id="0" name=""/>
        <dsp:cNvSpPr/>
      </dsp:nvSpPr>
      <dsp:spPr>
        <a:xfrm>
          <a:off x="525780" y="3527491"/>
          <a:ext cx="7360920" cy="826560"/>
        </a:xfrm>
        <a:prstGeom prst="roundRect">
          <a:avLst/>
        </a:prstGeom>
        <a:solidFill>
          <a:srgbClr val="BFD4DC"/>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Remove missing values from the borough field.</a:t>
          </a:r>
        </a:p>
      </dsp:txBody>
      <dsp:txXfrm>
        <a:off x="566129" y="3567840"/>
        <a:ext cx="7280222" cy="745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E91302-0D06-455F-B143-C8C0EF3E8654}">
      <dsp:nvSpPr>
        <dsp:cNvPr id="0" name=""/>
        <dsp:cNvSpPr/>
      </dsp:nvSpPr>
      <dsp:spPr>
        <a:xfrm>
          <a:off x="0" y="623"/>
          <a:ext cx="10515600" cy="1459690"/>
        </a:xfrm>
        <a:prstGeom prst="roundRect">
          <a:avLst>
            <a:gd name="adj" fmla="val 10000"/>
          </a:avLst>
        </a:prstGeom>
        <a:solidFill>
          <a:srgbClr val="E4EEEE"/>
        </a:solidFill>
        <a:ln>
          <a:noFill/>
        </a:ln>
        <a:effectLst/>
      </dsp:spPr>
      <dsp:style>
        <a:lnRef idx="0">
          <a:scrgbClr r="0" g="0" b="0"/>
        </a:lnRef>
        <a:fillRef idx="1">
          <a:scrgbClr r="0" g="0" b="0"/>
        </a:fillRef>
        <a:effectRef idx="0">
          <a:scrgbClr r="0" g="0" b="0"/>
        </a:effectRef>
        <a:fontRef idx="minor"/>
      </dsp:style>
    </dsp:sp>
    <dsp:sp modelId="{ACFC36F5-BE2D-43CF-8C55-81C2845AF127}">
      <dsp:nvSpPr>
        <dsp:cNvPr id="0" name=""/>
        <dsp:cNvSpPr/>
      </dsp:nvSpPr>
      <dsp:spPr>
        <a:xfrm>
          <a:off x="441556" y="329054"/>
          <a:ext cx="802829" cy="8028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C9CE11-6127-4982-85A4-71809AF9E6A7}">
      <dsp:nvSpPr>
        <dsp:cNvPr id="0" name=""/>
        <dsp:cNvSpPr/>
      </dsp:nvSpPr>
      <dsp:spPr>
        <a:xfrm>
          <a:off x="1685942" y="623"/>
          <a:ext cx="8829657" cy="1459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484" tIns="154484" rIns="154484" bIns="154484" numCol="1" spcCol="1270" anchor="ctr" anchorCtr="0">
          <a:noAutofit/>
        </a:bodyPr>
        <a:lstStyle/>
        <a:p>
          <a:pPr marL="0" lvl="0" indent="0" algn="l" defTabSz="622300">
            <a:lnSpc>
              <a:spcPct val="100000"/>
            </a:lnSpc>
            <a:spcBef>
              <a:spcPct val="0"/>
            </a:spcBef>
            <a:spcAft>
              <a:spcPct val="35000"/>
            </a:spcAft>
            <a:buNone/>
          </a:pPr>
          <a:r>
            <a:rPr lang="en-US" sz="1400" b="0" kern="1200" dirty="0">
              <a:solidFill>
                <a:schemeClr val="tx1"/>
              </a:solidFill>
            </a:rPr>
            <a:t>EMS response times does vary by borough. The Bronx has the longest median response time at 9.68 minutes, followed by Manhattan at 9.08 minutes. Staten Island has the shortest median response time at 7.53 minutes. Brooklyn has the highest incident volume, but not the worst response times. </a:t>
          </a:r>
        </a:p>
      </dsp:txBody>
      <dsp:txXfrm>
        <a:off x="1685942" y="623"/>
        <a:ext cx="8829657" cy="1459690"/>
      </dsp:txXfrm>
    </dsp:sp>
    <dsp:sp modelId="{10D51F48-5892-40D7-B9AE-A5CFEEE54D28}">
      <dsp:nvSpPr>
        <dsp:cNvPr id="0" name=""/>
        <dsp:cNvSpPr/>
      </dsp:nvSpPr>
      <dsp:spPr>
        <a:xfrm>
          <a:off x="0" y="1825236"/>
          <a:ext cx="10515600" cy="1459690"/>
        </a:xfrm>
        <a:prstGeom prst="roundRect">
          <a:avLst>
            <a:gd name="adj" fmla="val 10000"/>
          </a:avLst>
        </a:prstGeom>
        <a:solidFill>
          <a:srgbClr val="E4EEEE"/>
        </a:solidFill>
        <a:ln>
          <a:noFill/>
        </a:ln>
        <a:effectLst/>
      </dsp:spPr>
      <dsp:style>
        <a:lnRef idx="0">
          <a:scrgbClr r="0" g="0" b="0"/>
        </a:lnRef>
        <a:fillRef idx="1">
          <a:scrgbClr r="0" g="0" b="0"/>
        </a:fillRef>
        <a:effectRef idx="0">
          <a:scrgbClr r="0" g="0" b="0"/>
        </a:effectRef>
        <a:fontRef idx="minor"/>
      </dsp:style>
    </dsp:sp>
    <dsp:sp modelId="{4825ABB6-29C4-4BA9-BE7B-EF4A48CAEFA1}">
      <dsp:nvSpPr>
        <dsp:cNvPr id="0" name=""/>
        <dsp:cNvSpPr/>
      </dsp:nvSpPr>
      <dsp:spPr>
        <a:xfrm>
          <a:off x="441556" y="2153666"/>
          <a:ext cx="802829" cy="8028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5BD098-8258-4B86-A487-39295F2995E0}">
      <dsp:nvSpPr>
        <dsp:cNvPr id="0" name=""/>
        <dsp:cNvSpPr/>
      </dsp:nvSpPr>
      <dsp:spPr>
        <a:xfrm>
          <a:off x="1685942" y="1825236"/>
          <a:ext cx="8829657" cy="1459690"/>
        </a:xfrm>
        <a:prstGeom prst="rect">
          <a:avLst/>
        </a:prstGeom>
        <a:solidFill>
          <a:srgbClr val="E4EEEE"/>
        </a:solidFill>
        <a:ln>
          <a:noFill/>
        </a:ln>
        <a:effectLst/>
      </dsp:spPr>
      <dsp:style>
        <a:lnRef idx="0">
          <a:scrgbClr r="0" g="0" b="0"/>
        </a:lnRef>
        <a:fillRef idx="0">
          <a:scrgbClr r="0" g="0" b="0"/>
        </a:fillRef>
        <a:effectRef idx="0">
          <a:scrgbClr r="0" g="0" b="0"/>
        </a:effectRef>
        <a:fontRef idx="minor"/>
      </dsp:style>
      <dsp:txBody>
        <a:bodyPr spcFirstLastPara="0" vert="horz" wrap="square" lIns="154484" tIns="154484" rIns="154484" bIns="154484" numCol="1" spcCol="1270" anchor="ctr" anchorCtr="0">
          <a:noAutofit/>
        </a:bodyPr>
        <a:lstStyle/>
        <a:p>
          <a:pPr marL="0" lvl="0" indent="0" algn="l" defTabSz="622300">
            <a:lnSpc>
              <a:spcPct val="100000"/>
            </a:lnSpc>
            <a:spcBef>
              <a:spcPct val="0"/>
            </a:spcBef>
            <a:spcAft>
              <a:spcPct val="35000"/>
            </a:spcAft>
            <a:buNone/>
          </a:pPr>
          <a:r>
            <a:rPr lang="en-US" sz="1400" b="0" kern="1200" dirty="0">
              <a:solidFill>
                <a:schemeClr val="tx1"/>
              </a:solidFill>
            </a:rPr>
            <a:t>The Bronx shows the greatest response-time burden. It has the highest median response time, highest mean response time, and highest percentage of calls over 10 minutes. Nearly 48% of Bronx EMS incidents exceeded 10 minutes. In the monthly trend chart, the Bronx line is usually above the other boroughs, suggesting that its longer response times are persistent rather than an outlier. </a:t>
          </a:r>
        </a:p>
      </dsp:txBody>
      <dsp:txXfrm>
        <a:off x="1685942" y="1825236"/>
        <a:ext cx="8829657" cy="1459690"/>
      </dsp:txXfrm>
    </dsp:sp>
    <dsp:sp modelId="{0EECF8B7-D29D-4D96-BE01-9652F4FB019C}">
      <dsp:nvSpPr>
        <dsp:cNvPr id="0" name=""/>
        <dsp:cNvSpPr/>
      </dsp:nvSpPr>
      <dsp:spPr>
        <a:xfrm>
          <a:off x="0" y="3649849"/>
          <a:ext cx="10515600" cy="1459690"/>
        </a:xfrm>
        <a:prstGeom prst="roundRect">
          <a:avLst>
            <a:gd name="adj" fmla="val 10000"/>
          </a:avLst>
        </a:prstGeom>
        <a:solidFill>
          <a:srgbClr val="E4EEEE"/>
        </a:solidFill>
        <a:ln>
          <a:noFill/>
        </a:ln>
        <a:effectLst/>
      </dsp:spPr>
      <dsp:style>
        <a:lnRef idx="0">
          <a:scrgbClr r="0" g="0" b="0"/>
        </a:lnRef>
        <a:fillRef idx="1">
          <a:scrgbClr r="0" g="0" b="0"/>
        </a:fillRef>
        <a:effectRef idx="0">
          <a:scrgbClr r="0" g="0" b="0"/>
        </a:effectRef>
        <a:fontRef idx="minor"/>
      </dsp:style>
    </dsp:sp>
    <dsp:sp modelId="{651CCDD8-C7B8-4031-A1F7-4FBC324E132B}">
      <dsp:nvSpPr>
        <dsp:cNvPr id="0" name=""/>
        <dsp:cNvSpPr/>
      </dsp:nvSpPr>
      <dsp:spPr>
        <a:xfrm>
          <a:off x="441556" y="3978279"/>
          <a:ext cx="802829" cy="80282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F6B3AB-B8ED-4874-A31B-790FA5218823}">
      <dsp:nvSpPr>
        <dsp:cNvPr id="0" name=""/>
        <dsp:cNvSpPr/>
      </dsp:nvSpPr>
      <dsp:spPr>
        <a:xfrm>
          <a:off x="1685942" y="3649849"/>
          <a:ext cx="8829657" cy="1459690"/>
        </a:xfrm>
        <a:prstGeom prst="rect">
          <a:avLst/>
        </a:prstGeom>
        <a:solidFill>
          <a:srgbClr val="E4EEEE"/>
        </a:solidFill>
        <a:ln>
          <a:noFill/>
        </a:ln>
        <a:effectLst/>
      </dsp:spPr>
      <dsp:style>
        <a:lnRef idx="0">
          <a:scrgbClr r="0" g="0" b="0"/>
        </a:lnRef>
        <a:fillRef idx="0">
          <a:scrgbClr r="0" g="0" b="0"/>
        </a:fillRef>
        <a:effectRef idx="0">
          <a:scrgbClr r="0" g="0" b="0"/>
        </a:effectRef>
        <a:fontRef idx="minor"/>
      </dsp:style>
      <dsp:txBody>
        <a:bodyPr spcFirstLastPara="0" vert="horz" wrap="square" lIns="154484" tIns="154484" rIns="154484" bIns="154484" numCol="1" spcCol="1270" anchor="ctr" anchorCtr="0">
          <a:noAutofit/>
        </a:bodyPr>
        <a:lstStyle/>
        <a:p>
          <a:pPr marL="0" lvl="0" indent="0" algn="l" defTabSz="622300">
            <a:lnSpc>
              <a:spcPct val="100000"/>
            </a:lnSpc>
            <a:spcBef>
              <a:spcPct val="0"/>
            </a:spcBef>
            <a:spcAft>
              <a:spcPct val="35000"/>
            </a:spcAft>
            <a:buNone/>
          </a:pPr>
          <a:r>
            <a:rPr lang="en-US" sz="1400" b="0" kern="1200" dirty="0">
              <a:solidFill>
                <a:schemeClr val="tx1"/>
              </a:solidFill>
            </a:rPr>
            <a:t>Staten Island consistently performs better than the other boroughs. It has the lowest median response time, lowest average response time, lowest percentage over 10 minutes, and lowest held percentage. Only about 28% of Staten Island incidents exceeded 10 minutes, compared with nearly 48% in the Bronx.</a:t>
          </a:r>
        </a:p>
      </dsp:txBody>
      <dsp:txXfrm>
        <a:off x="1685942" y="3649849"/>
        <a:ext cx="8829657" cy="14596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A33BF-B070-4F0D-AC4A-5CCB439AE437}"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276118-5265-4D82-9D15-A61B26C4B833}" type="slidenum">
              <a:rPr lang="en-US" smtClean="0"/>
              <a:t>‹#›</a:t>
            </a:fld>
            <a:endParaRPr lang="en-US"/>
          </a:p>
        </p:txBody>
      </p:sp>
    </p:spTree>
    <p:extLst>
      <p:ext uri="{BB962C8B-B14F-4D97-AF65-F5344CB8AC3E}">
        <p14:creationId xmlns:p14="http://schemas.microsoft.com/office/powerpoint/2010/main" val="3118219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Each row is an incident with a unique ID number (the primary key). Only working with 2024 data to make the task for manageable.  </a:t>
            </a:r>
          </a:p>
        </p:txBody>
      </p:sp>
      <p:sp>
        <p:nvSpPr>
          <p:cNvPr id="4" name="Slide Number Placeholder 3"/>
          <p:cNvSpPr>
            <a:spLocks noGrp="1"/>
          </p:cNvSpPr>
          <p:nvPr>
            <p:ph type="sldNum" sz="quarter" idx="5"/>
          </p:nvPr>
        </p:nvSpPr>
        <p:spPr/>
        <p:txBody>
          <a:bodyPr/>
          <a:lstStyle/>
          <a:p>
            <a:fld id="{CC276118-5265-4D82-9D15-A61B26C4B833}" type="slidenum">
              <a:rPr lang="en-US" smtClean="0"/>
              <a:t>2</a:t>
            </a:fld>
            <a:endParaRPr lang="en-US"/>
          </a:p>
        </p:txBody>
      </p:sp>
    </p:spTree>
    <p:extLst>
      <p:ext uri="{BB962C8B-B14F-4D97-AF65-F5344CB8AC3E}">
        <p14:creationId xmlns:p14="http://schemas.microsoft.com/office/powerpoint/2010/main" val="1819721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my research is to analyze NYC EMS response time and if it varies by borough depending on the severity of the incident, and time or day of the week. </a:t>
            </a:r>
          </a:p>
        </p:txBody>
      </p:sp>
      <p:sp>
        <p:nvSpPr>
          <p:cNvPr id="4" name="Slide Number Placeholder 3"/>
          <p:cNvSpPr>
            <a:spLocks noGrp="1"/>
          </p:cNvSpPr>
          <p:nvPr>
            <p:ph type="sldNum" sz="quarter" idx="5"/>
          </p:nvPr>
        </p:nvSpPr>
        <p:spPr/>
        <p:txBody>
          <a:bodyPr/>
          <a:lstStyle/>
          <a:p>
            <a:fld id="{CC276118-5265-4D82-9D15-A61B26C4B833}" type="slidenum">
              <a:rPr lang="en-US" smtClean="0"/>
              <a:t>3</a:t>
            </a:fld>
            <a:endParaRPr lang="en-US"/>
          </a:p>
        </p:txBody>
      </p:sp>
    </p:spTree>
    <p:extLst>
      <p:ext uri="{BB962C8B-B14F-4D97-AF65-F5344CB8AC3E}">
        <p14:creationId xmlns:p14="http://schemas.microsoft.com/office/powerpoint/2010/main" val="1482266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EMS response-time data are right-skewed.</a:t>
            </a:r>
            <a:r>
              <a:rPr lang="en-US" sz="1200" dirty="0"/>
              <a:t> In every borough, the mean response time is higher than the median. This means most responses occur within a moderate range, but some very long response times pull the average upward.</a:t>
            </a:r>
          </a:p>
        </p:txBody>
      </p:sp>
      <p:sp>
        <p:nvSpPr>
          <p:cNvPr id="4" name="Slide Number Placeholder 3"/>
          <p:cNvSpPr>
            <a:spLocks noGrp="1"/>
          </p:cNvSpPr>
          <p:nvPr>
            <p:ph type="sldNum" sz="quarter" idx="5"/>
          </p:nvPr>
        </p:nvSpPr>
        <p:spPr/>
        <p:txBody>
          <a:bodyPr/>
          <a:lstStyle/>
          <a:p>
            <a:fld id="{CC276118-5265-4D82-9D15-A61B26C4B833}" type="slidenum">
              <a:rPr lang="en-US" smtClean="0"/>
              <a:t>5</a:t>
            </a:fld>
            <a:endParaRPr lang="en-US"/>
          </a:p>
        </p:txBody>
      </p:sp>
    </p:spTree>
    <p:extLst>
      <p:ext uri="{BB962C8B-B14F-4D97-AF65-F5344CB8AC3E}">
        <p14:creationId xmlns:p14="http://schemas.microsoft.com/office/powerpoint/2010/main" val="1098159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Borough differences are not caused only by outliers.</a:t>
            </a:r>
            <a:r>
              <a:rPr lang="en-US" sz="1200" dirty="0"/>
              <a:t> The median lines and middle ranges differ across boroughs, meaning the typical response-time experience is different depending on borough.</a:t>
            </a:r>
          </a:p>
          <a:p>
            <a:endParaRPr lang="en-US" dirty="0"/>
          </a:p>
        </p:txBody>
      </p:sp>
      <p:sp>
        <p:nvSpPr>
          <p:cNvPr id="4" name="Slide Number Placeholder 3"/>
          <p:cNvSpPr>
            <a:spLocks noGrp="1"/>
          </p:cNvSpPr>
          <p:nvPr>
            <p:ph type="sldNum" sz="quarter" idx="5"/>
          </p:nvPr>
        </p:nvSpPr>
        <p:spPr/>
        <p:txBody>
          <a:bodyPr/>
          <a:lstStyle/>
          <a:p>
            <a:fld id="{CC276118-5265-4D82-9D15-A61B26C4B833}" type="slidenum">
              <a:rPr lang="en-US" smtClean="0"/>
              <a:t>7</a:t>
            </a:fld>
            <a:endParaRPr lang="en-US"/>
          </a:p>
        </p:txBody>
      </p:sp>
    </p:spTree>
    <p:extLst>
      <p:ext uri="{BB962C8B-B14F-4D97-AF65-F5344CB8AC3E}">
        <p14:creationId xmlns:p14="http://schemas.microsoft.com/office/powerpoint/2010/main" val="1565364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Seasonal patterns are visible.</a:t>
            </a:r>
            <a:r>
              <a:rPr lang="en-US" sz="1200" dirty="0"/>
              <a:t> Median response times tend to rise in several boroughs during late spring, summer, early fall, and December. The Bronx especially shows noticeable increases in May, July, September, and December.</a:t>
            </a:r>
          </a:p>
          <a:p>
            <a:endParaRPr lang="en-US" dirty="0"/>
          </a:p>
        </p:txBody>
      </p:sp>
      <p:sp>
        <p:nvSpPr>
          <p:cNvPr id="4" name="Slide Number Placeholder 3"/>
          <p:cNvSpPr>
            <a:spLocks noGrp="1"/>
          </p:cNvSpPr>
          <p:nvPr>
            <p:ph type="sldNum" sz="quarter" idx="5"/>
          </p:nvPr>
        </p:nvSpPr>
        <p:spPr/>
        <p:txBody>
          <a:bodyPr/>
          <a:lstStyle/>
          <a:p>
            <a:fld id="{CC276118-5265-4D82-9D15-A61B26C4B833}" type="slidenum">
              <a:rPr lang="en-US" smtClean="0"/>
              <a:t>8</a:t>
            </a:fld>
            <a:endParaRPr lang="en-US"/>
          </a:p>
        </p:txBody>
      </p:sp>
    </p:spTree>
    <p:extLst>
      <p:ext uri="{BB962C8B-B14F-4D97-AF65-F5344CB8AC3E}">
        <p14:creationId xmlns:p14="http://schemas.microsoft.com/office/powerpoint/2010/main" val="1154184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Time of day matters.</a:t>
            </a:r>
            <a:r>
              <a:rPr lang="en-US" sz="1200" dirty="0"/>
              <a:t> The heatmap shows that response times are generally lower overnight and higher during the afternoon and early evening.</a:t>
            </a:r>
          </a:p>
          <a:p>
            <a:r>
              <a:rPr lang="en-US" sz="1200" b="1" dirty="0"/>
              <a:t>The worst time window appears to be around 3 PM to 6 PM.</a:t>
            </a:r>
            <a:r>
              <a:rPr lang="en-US" sz="1200" dirty="0"/>
              <a:t> Several boroughs show darker/lighter heatmap values during this period, especially the Bronx, suggesting higher median response times during peak daytime or evening demand.</a:t>
            </a:r>
          </a:p>
          <a:p>
            <a:endParaRPr lang="en-US" dirty="0"/>
          </a:p>
        </p:txBody>
      </p:sp>
      <p:sp>
        <p:nvSpPr>
          <p:cNvPr id="4" name="Slide Number Placeholder 3"/>
          <p:cNvSpPr>
            <a:spLocks noGrp="1"/>
          </p:cNvSpPr>
          <p:nvPr>
            <p:ph type="sldNum" sz="quarter" idx="5"/>
          </p:nvPr>
        </p:nvSpPr>
        <p:spPr/>
        <p:txBody>
          <a:bodyPr/>
          <a:lstStyle/>
          <a:p>
            <a:fld id="{CC276118-5265-4D82-9D15-A61B26C4B833}" type="slidenum">
              <a:rPr lang="en-US" smtClean="0"/>
              <a:t>9</a:t>
            </a:fld>
            <a:endParaRPr lang="en-US"/>
          </a:p>
        </p:txBody>
      </p:sp>
    </p:spTree>
    <p:extLst>
      <p:ext uri="{BB962C8B-B14F-4D97-AF65-F5344CB8AC3E}">
        <p14:creationId xmlns:p14="http://schemas.microsoft.com/office/powerpoint/2010/main" val="1950723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276118-5265-4D82-9D15-A61B26C4B833}" type="slidenum">
              <a:rPr lang="en-US" smtClean="0"/>
              <a:t>10</a:t>
            </a:fld>
            <a:endParaRPr lang="en-US"/>
          </a:p>
        </p:txBody>
      </p:sp>
    </p:spTree>
    <p:extLst>
      <p:ext uri="{BB962C8B-B14F-4D97-AF65-F5344CB8AC3E}">
        <p14:creationId xmlns:p14="http://schemas.microsoft.com/office/powerpoint/2010/main" val="635524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EMS response delays are unevenly distributed across New York City. The Bronx experiences the greatest response-time burden, with the highest median response time, and highest percentage of incidents over 10 minutes. Staten Island consistently has the shortest response times and lowest delay rates. Overall, the evidence suggests that EMS response delay is influenced by geography, temporal demand patterns, and operational constraints such as held incidents.</a:t>
            </a:r>
          </a:p>
          <a:p>
            <a:endParaRPr lang="en-US" dirty="0"/>
          </a:p>
        </p:txBody>
      </p:sp>
      <p:sp>
        <p:nvSpPr>
          <p:cNvPr id="4" name="Slide Number Placeholder 3"/>
          <p:cNvSpPr>
            <a:spLocks noGrp="1"/>
          </p:cNvSpPr>
          <p:nvPr>
            <p:ph type="sldNum" sz="quarter" idx="5"/>
          </p:nvPr>
        </p:nvSpPr>
        <p:spPr/>
        <p:txBody>
          <a:bodyPr/>
          <a:lstStyle/>
          <a:p>
            <a:fld id="{CC276118-5265-4D82-9D15-A61B26C4B833}" type="slidenum">
              <a:rPr lang="en-US" smtClean="0"/>
              <a:t>11</a:t>
            </a:fld>
            <a:endParaRPr lang="en-US"/>
          </a:p>
        </p:txBody>
      </p:sp>
    </p:spTree>
    <p:extLst>
      <p:ext uri="{BB962C8B-B14F-4D97-AF65-F5344CB8AC3E}">
        <p14:creationId xmlns:p14="http://schemas.microsoft.com/office/powerpoint/2010/main" val="1375618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59EAF-DCFD-F267-126F-E9EBCDD97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171700C-C81C-B146-40EC-E19DDA857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302441-5198-76A8-5FA1-B97F5D6BBF76}"/>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212151BB-4069-67D9-638D-252C6B648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EAA0F-1428-189A-2BD4-9290EDD014EC}"/>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156960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9DA4-1BA1-83A9-B16A-1DC6385091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ED3FF-A7E3-4678-3ED3-9C732E269D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FD214-5B76-8A31-1FD8-E66C532679AF}"/>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00086270-A37C-EFED-6629-F30089DCD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14398-7D76-51B1-8BC1-65A6C638A97D}"/>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1974633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0BAA3-DD62-7F57-8226-438AB0F89B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929339-61EE-08A3-552B-20A5288D5A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A11E34-6356-7C23-A0F3-8602618FC2BF}"/>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21C5FCB6-5358-69B2-E89D-0F0EAAC30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90F53-2B58-C767-5677-298C515CE88B}"/>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354226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B9EA-0C30-2291-7B25-88C67BE50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17B0C9-2980-41D6-3BCC-3F11B2F059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CB60DE-BDA5-2F8E-1A0E-E449E4008B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836A59-2115-8DA0-6F3F-30FF18922B8F}"/>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6" name="Footer Placeholder 5">
            <a:extLst>
              <a:ext uri="{FF2B5EF4-FFF2-40B4-BE49-F238E27FC236}">
                <a16:creationId xmlns:a16="http://schemas.microsoft.com/office/drawing/2014/main" id="{43535232-47C5-10BE-5A24-611D7353B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C97A4B-6927-ADDE-15DA-8E022CEF4695}"/>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4133900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85E9C-7646-0B12-38C2-268375559B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BEA54C-304D-0898-F8F0-8E6BDC9B6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9910C-A0BD-9D83-A51A-4902122664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09DB2B-30F3-B1C3-E7C0-2D32896381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072011-7FA3-E1F5-29E8-1EDF7E7DBE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04802E-9144-88D0-4FE2-320A645039B9}"/>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8" name="Footer Placeholder 7">
            <a:extLst>
              <a:ext uri="{FF2B5EF4-FFF2-40B4-BE49-F238E27FC236}">
                <a16:creationId xmlns:a16="http://schemas.microsoft.com/office/drawing/2014/main" id="{416876D2-9611-F745-BEB9-2D865F5B4F4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E1E591-5CD2-D5A9-0A4B-084B184C9CA9}"/>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4010497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8401F-711E-0A92-C4F2-303EAE485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5992FF-67A6-EC22-7E59-65EFE17EFC8B}"/>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4" name="Footer Placeholder 3">
            <a:extLst>
              <a:ext uri="{FF2B5EF4-FFF2-40B4-BE49-F238E27FC236}">
                <a16:creationId xmlns:a16="http://schemas.microsoft.com/office/drawing/2014/main" id="{FD7BF0B7-9F73-ABDE-5DEF-DA3BBDA86B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B7437E-8978-B8AD-7628-A12076B00027}"/>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1740041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C2366-E243-F0CF-B5C5-28F4A2D64B0A}"/>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3" name="Footer Placeholder 2">
            <a:extLst>
              <a:ext uri="{FF2B5EF4-FFF2-40B4-BE49-F238E27FC236}">
                <a16:creationId xmlns:a16="http://schemas.microsoft.com/office/drawing/2014/main" id="{EAFAB534-90D1-6227-A133-8266919B26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44DB64-659A-C23C-69BF-C9FEA64B2216}"/>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85770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56106-E7C0-E854-2D38-DD31A5AC6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042CE2-1FEB-5451-AF9B-3B833653DD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70BCA5-F8A8-EBA8-3616-5D2A517AB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A4B83C-2E5E-8E01-9226-A0BB65E4E106}"/>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6" name="Footer Placeholder 5">
            <a:extLst>
              <a:ext uri="{FF2B5EF4-FFF2-40B4-BE49-F238E27FC236}">
                <a16:creationId xmlns:a16="http://schemas.microsoft.com/office/drawing/2014/main" id="{D50F9CA7-A634-3BAE-77EB-6B3B4AB6E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E396E-B12F-2755-E164-A106C5B497D7}"/>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1749110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B152-7793-5055-5CB0-DF5D0DC1C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4A9159-19BC-9609-0D7B-A83D8A0DB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0F3731-519E-9C4C-D04F-BF4C1712A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8E1AFC-86CD-0CA1-6085-0B5A4ADDA10E}"/>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6" name="Footer Placeholder 5">
            <a:extLst>
              <a:ext uri="{FF2B5EF4-FFF2-40B4-BE49-F238E27FC236}">
                <a16:creationId xmlns:a16="http://schemas.microsoft.com/office/drawing/2014/main" id="{6271DF2A-53C3-2565-CAFA-B449449E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D1B507-1F44-6143-1014-1BC661727DB4}"/>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224373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CF91-82C4-6789-9DF4-2E838D05E4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9D8A17-B273-65AD-782B-65216DAEF3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37434-9D28-3778-A371-363D6433BB46}"/>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74F71796-05AB-5891-B993-B063A6D0B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041B3C-1CC7-CD5D-A138-F8413110EFD1}"/>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2535455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EE3552-6F25-D786-9F70-A6C45B7E27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BC26DB-CF50-6287-74AE-6CC194A27D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E8179-7787-04A9-D9A5-C1C0D81F4952}"/>
              </a:ext>
            </a:extLst>
          </p:cNvPr>
          <p:cNvSpPr>
            <a:spLocks noGrp="1"/>
          </p:cNvSpPr>
          <p:nvPr>
            <p:ph type="dt" sz="half" idx="10"/>
          </p:nvPr>
        </p:nvSpPr>
        <p:spPr/>
        <p:txBody>
          <a:body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27691660-377C-50B5-C5CB-4994F436B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85D683-6C94-73A4-7C4E-F4F907BEEE1F}"/>
              </a:ext>
            </a:extLst>
          </p:cNvPr>
          <p:cNvSpPr>
            <a:spLocks noGrp="1"/>
          </p:cNvSpPr>
          <p:nvPr>
            <p:ph type="sldNum" sz="quarter" idx="12"/>
          </p:nvPr>
        </p:nvSpPr>
        <p:spPr/>
        <p:txBody>
          <a:bodyPr/>
          <a:lstStyle/>
          <a:p>
            <a:fld id="{BF898953-8452-44EA-968F-AE71EAED9A5D}" type="slidenum">
              <a:rPr lang="en-US" smtClean="0"/>
              <a:t>‹#›</a:t>
            </a:fld>
            <a:endParaRPr lang="en-US"/>
          </a:p>
        </p:txBody>
      </p:sp>
    </p:spTree>
    <p:extLst>
      <p:ext uri="{BB962C8B-B14F-4D97-AF65-F5344CB8AC3E}">
        <p14:creationId xmlns:p14="http://schemas.microsoft.com/office/powerpoint/2010/main" val="4133476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CC1017-983E-9D9B-4AC8-7B1A5F8AD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8FA590-A719-3524-43CE-A984C4D934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9DCAF-6FB1-F45A-CFE7-24300B47E3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492C08-B228-4484-8F62-DC498F581D24}" type="datetimeFigureOut">
              <a:rPr lang="en-US" smtClean="0"/>
              <a:t>6/3/2026</a:t>
            </a:fld>
            <a:endParaRPr lang="en-US"/>
          </a:p>
        </p:txBody>
      </p:sp>
      <p:sp>
        <p:nvSpPr>
          <p:cNvPr id="5" name="Footer Placeholder 4">
            <a:extLst>
              <a:ext uri="{FF2B5EF4-FFF2-40B4-BE49-F238E27FC236}">
                <a16:creationId xmlns:a16="http://schemas.microsoft.com/office/drawing/2014/main" id="{643A3044-48DE-D023-34AF-23E46429FE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14C015-C734-D3C1-826B-97FF0FCA8E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898953-8452-44EA-968F-AE71EAED9A5D}" type="slidenum">
              <a:rPr lang="en-US" smtClean="0"/>
              <a:t>‹#›</a:t>
            </a:fld>
            <a:endParaRPr lang="en-US"/>
          </a:p>
        </p:txBody>
      </p:sp>
    </p:spTree>
    <p:extLst>
      <p:ext uri="{BB962C8B-B14F-4D97-AF65-F5344CB8AC3E}">
        <p14:creationId xmlns:p14="http://schemas.microsoft.com/office/powerpoint/2010/main" val="410164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B773EA62-20C8-FDB4-64B1-8C8EFC1E0B57}"/>
              </a:ext>
            </a:extLst>
          </p:cNvPr>
          <p:cNvSpPr>
            <a:spLocks noGrp="1"/>
          </p:cNvSpPr>
          <p:nvPr>
            <p:ph type="ctrTitle"/>
          </p:nvPr>
        </p:nvSpPr>
        <p:spPr>
          <a:xfrm>
            <a:off x="3502731" y="1542402"/>
            <a:ext cx="5186842" cy="2387918"/>
          </a:xfrm>
        </p:spPr>
        <p:txBody>
          <a:bodyPr anchor="b">
            <a:normAutofit fontScale="90000"/>
          </a:bodyPr>
          <a:lstStyle/>
          <a:p>
            <a:r>
              <a:rPr lang="en-US" dirty="0">
                <a:solidFill>
                  <a:schemeClr val="tx2"/>
                </a:solidFill>
              </a:rPr>
              <a:t>NYC EMS Incident Response Time</a:t>
            </a:r>
          </a:p>
        </p:txBody>
      </p:sp>
      <p:sp>
        <p:nvSpPr>
          <p:cNvPr id="3" name="Subtitle 2">
            <a:extLst>
              <a:ext uri="{FF2B5EF4-FFF2-40B4-BE49-F238E27FC236}">
                <a16:creationId xmlns:a16="http://schemas.microsoft.com/office/drawing/2014/main" id="{19A55952-F219-BBC5-E118-C7B951F60A0C}"/>
              </a:ext>
            </a:extLst>
          </p:cNvPr>
          <p:cNvSpPr>
            <a:spLocks noGrp="1"/>
          </p:cNvSpPr>
          <p:nvPr>
            <p:ph type="subTitle" idx="1"/>
          </p:nvPr>
        </p:nvSpPr>
        <p:spPr>
          <a:xfrm>
            <a:off x="3502135" y="4001587"/>
            <a:ext cx="5188034" cy="1467150"/>
          </a:xfrm>
        </p:spPr>
        <p:txBody>
          <a:bodyPr>
            <a:normAutofit/>
          </a:bodyPr>
          <a:lstStyle/>
          <a:p>
            <a:r>
              <a:rPr lang="en-US" dirty="0">
                <a:solidFill>
                  <a:schemeClr val="tx2"/>
                </a:solidFill>
              </a:rPr>
              <a:t>Syeda Nahar</a:t>
            </a:r>
          </a:p>
          <a:p>
            <a:r>
              <a:rPr lang="en-US" dirty="0">
                <a:solidFill>
                  <a:schemeClr val="tx2"/>
                </a:solidFill>
              </a:rPr>
              <a:t>Healthfirst Date Analytics Academy Capstone Project</a:t>
            </a: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484004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0" name="Rectangle 19">
            <a:extLst>
              <a:ext uri="{FF2B5EF4-FFF2-40B4-BE49-F238E27FC236}">
                <a16:creationId xmlns:a16="http://schemas.microsoft.com/office/drawing/2014/main" id="{B0112B1D-9613-C271-AF23-041E8CF2C9CF}"/>
              </a:ext>
            </a:extLst>
          </p:cNvPr>
          <p:cNvSpPr/>
          <p:nvPr/>
        </p:nvSpPr>
        <p:spPr>
          <a:xfrm>
            <a:off x="838047" y="1253331"/>
            <a:ext cx="10515600" cy="4351338"/>
          </a:xfrm>
          <a:prstGeom prst="rect">
            <a:avLst/>
          </a:prstGeom>
          <a:solidFill>
            <a:srgbClr val="E4EEEE"/>
          </a:solidFill>
        </p:spPr>
        <p:txBody>
          <a:bodyPr/>
          <a:lstStyle/>
          <a:p>
            <a:endParaRPr lang="en-US"/>
          </a:p>
        </p:txBody>
      </p:sp>
      <p:sp>
        <p:nvSpPr>
          <p:cNvPr id="22" name="Freeform: Shape 21">
            <a:extLst>
              <a:ext uri="{FF2B5EF4-FFF2-40B4-BE49-F238E27FC236}">
                <a16:creationId xmlns:a16="http://schemas.microsoft.com/office/drawing/2014/main" id="{FBB117CB-A33E-F480-2A38-779D0BC225F1}"/>
              </a:ext>
            </a:extLst>
          </p:cNvPr>
          <p:cNvSpPr/>
          <p:nvPr/>
        </p:nvSpPr>
        <p:spPr>
          <a:xfrm>
            <a:off x="838047" y="1253331"/>
            <a:ext cx="10515600" cy="4351338"/>
          </a:xfrm>
          <a:custGeom>
            <a:avLst/>
            <a:gdLst>
              <a:gd name="csX0" fmla="*/ 0 w 10515600"/>
              <a:gd name="csY0" fmla="*/ 0 h 4351338"/>
              <a:gd name="csX1" fmla="*/ 10515600 w 10515600"/>
              <a:gd name="csY1" fmla="*/ 0 h 4351338"/>
              <a:gd name="csX2" fmla="*/ 10515600 w 10515600"/>
              <a:gd name="csY2" fmla="*/ 4351338 h 4351338"/>
              <a:gd name="csX3" fmla="*/ 0 w 10515600"/>
              <a:gd name="csY3" fmla="*/ 4351338 h 4351338"/>
              <a:gd name="csX4" fmla="*/ 0 w 10515600"/>
              <a:gd name="csY4" fmla="*/ 0 h 4351338"/>
            </a:gdLst>
            <a:ahLst/>
            <a:cxnLst>
              <a:cxn ang="0">
                <a:pos x="csX0" y="csY0"/>
              </a:cxn>
              <a:cxn ang="0">
                <a:pos x="csX1" y="csY1"/>
              </a:cxn>
              <a:cxn ang="0">
                <a:pos x="csX2" y="csY2"/>
              </a:cxn>
              <a:cxn ang="0">
                <a:pos x="csX3" y="csY3"/>
              </a:cxn>
              <a:cxn ang="0">
                <a:pos x="csX4" y="csY4"/>
              </a:cxn>
            </a:cxnLst>
            <a:rect l="l" t="t" r="r" b="b"/>
            <a:pathLst>
              <a:path w="10515600" h="4351338">
                <a:moveTo>
                  <a:pt x="0" y="0"/>
                </a:moveTo>
                <a:lnTo>
                  <a:pt x="10515600" y="0"/>
                </a:lnTo>
                <a:lnTo>
                  <a:pt x="10515600" y="4351338"/>
                </a:lnTo>
                <a:lnTo>
                  <a:pt x="0" y="4351338"/>
                </a:lnTo>
                <a:lnTo>
                  <a:pt x="0" y="0"/>
                </a:lnTo>
                <a:close/>
              </a:path>
            </a:pathLst>
          </a:custGeom>
          <a:solidFill>
            <a:srgbClr val="E4EEEE"/>
          </a:solidFill>
        </p:spPr>
        <p:style>
          <a:lnRef idx="2">
            <a:schemeClr val="dk1">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91160" tIns="391160" rIns="391160" bIns="2392776" numCol="1" spcCol="1270" anchor="ctr" anchorCtr="0">
            <a:noAutofit/>
          </a:bodyPr>
          <a:lstStyle/>
          <a:p>
            <a:pPr marL="0" lvl="0" indent="0" algn="ctr" defTabSz="2444750">
              <a:lnSpc>
                <a:spcPct val="90000"/>
              </a:lnSpc>
              <a:spcBef>
                <a:spcPct val="0"/>
              </a:spcBef>
              <a:spcAft>
                <a:spcPct val="35000"/>
              </a:spcAft>
              <a:buNone/>
            </a:pPr>
            <a:r>
              <a:rPr lang="en-US" sz="5500" kern="1200" dirty="0">
                <a:solidFill>
                  <a:schemeClr val="tx1"/>
                </a:solidFill>
              </a:rPr>
              <a:t>NYC Open Data: EMS Incident Dispatch Data</a:t>
            </a:r>
          </a:p>
        </p:txBody>
      </p:sp>
      <p:sp>
        <p:nvSpPr>
          <p:cNvPr id="23" name="Freeform: Shape 22">
            <a:extLst>
              <a:ext uri="{FF2B5EF4-FFF2-40B4-BE49-F238E27FC236}">
                <a16:creationId xmlns:a16="http://schemas.microsoft.com/office/drawing/2014/main" id="{862A1203-4E9D-0D0D-BDCD-7B726C34A8F8}"/>
              </a:ext>
            </a:extLst>
          </p:cNvPr>
          <p:cNvSpPr/>
          <p:nvPr/>
        </p:nvSpPr>
        <p:spPr>
          <a:xfrm>
            <a:off x="843181" y="3516026"/>
            <a:ext cx="3501776" cy="2001615"/>
          </a:xfrm>
          <a:custGeom>
            <a:avLst/>
            <a:gdLst>
              <a:gd name="csX0" fmla="*/ 0 w 3501776"/>
              <a:gd name="csY0" fmla="*/ 0 h 2001615"/>
              <a:gd name="csX1" fmla="*/ 3501776 w 3501776"/>
              <a:gd name="csY1" fmla="*/ 0 h 2001615"/>
              <a:gd name="csX2" fmla="*/ 3501776 w 3501776"/>
              <a:gd name="csY2" fmla="*/ 2001615 h 2001615"/>
              <a:gd name="csX3" fmla="*/ 0 w 3501776"/>
              <a:gd name="csY3" fmla="*/ 2001615 h 2001615"/>
              <a:gd name="csX4" fmla="*/ 0 w 3501776"/>
              <a:gd name="csY4" fmla="*/ 0 h 2001615"/>
            </a:gdLst>
            <a:ahLst/>
            <a:cxnLst>
              <a:cxn ang="0">
                <a:pos x="csX0" y="csY0"/>
              </a:cxn>
              <a:cxn ang="0">
                <a:pos x="csX1" y="csY1"/>
              </a:cxn>
              <a:cxn ang="0">
                <a:pos x="csX2" y="csY2"/>
              </a:cxn>
              <a:cxn ang="0">
                <a:pos x="csX3" y="csY3"/>
              </a:cxn>
              <a:cxn ang="0">
                <a:pos x="csX4" y="csY4"/>
              </a:cxn>
            </a:cxnLst>
            <a:rect l="l" t="t" r="r" b="b"/>
            <a:pathLst>
              <a:path w="3501776" h="2001615">
                <a:moveTo>
                  <a:pt x="0" y="0"/>
                </a:moveTo>
                <a:lnTo>
                  <a:pt x="3501776" y="0"/>
                </a:lnTo>
                <a:lnTo>
                  <a:pt x="3501776" y="2001615"/>
                </a:lnTo>
                <a:lnTo>
                  <a:pt x="0" y="2001615"/>
                </a:lnTo>
                <a:lnTo>
                  <a:pt x="0" y="0"/>
                </a:lnTo>
                <a:close/>
              </a:path>
            </a:pathLst>
          </a:custGeom>
          <a:solidFill>
            <a:srgbClr val="E4EEEE">
              <a:alpha val="90000"/>
            </a:srgbClr>
          </a:solidFill>
        </p:spPr>
        <p:style>
          <a:lnRef idx="2">
            <a:schemeClr val="dk1">
              <a:alpha val="90000"/>
              <a:hueOff val="0"/>
              <a:satOff val="0"/>
              <a:lumOff val="0"/>
              <a:alphaOff val="0"/>
            </a:schemeClr>
          </a:lnRef>
          <a:fillRef idx="1">
            <a:scrgbClr r="0" g="0" b="0"/>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Data Generated by the EMS Computer Aided Dispatch System.</a:t>
            </a:r>
          </a:p>
        </p:txBody>
      </p:sp>
      <p:sp>
        <p:nvSpPr>
          <p:cNvPr id="24" name="Freeform: Shape 23">
            <a:extLst>
              <a:ext uri="{FF2B5EF4-FFF2-40B4-BE49-F238E27FC236}">
                <a16:creationId xmlns:a16="http://schemas.microsoft.com/office/drawing/2014/main" id="{19192ECD-B3ED-D8B0-2FDC-0F9A8F24C1CB}"/>
              </a:ext>
            </a:extLst>
          </p:cNvPr>
          <p:cNvSpPr/>
          <p:nvPr/>
        </p:nvSpPr>
        <p:spPr>
          <a:xfrm>
            <a:off x="4344958" y="3516026"/>
            <a:ext cx="3501776" cy="2001615"/>
          </a:xfrm>
          <a:custGeom>
            <a:avLst/>
            <a:gdLst>
              <a:gd name="csX0" fmla="*/ 0 w 3501776"/>
              <a:gd name="csY0" fmla="*/ 0 h 2001615"/>
              <a:gd name="csX1" fmla="*/ 3501776 w 3501776"/>
              <a:gd name="csY1" fmla="*/ 0 h 2001615"/>
              <a:gd name="csX2" fmla="*/ 3501776 w 3501776"/>
              <a:gd name="csY2" fmla="*/ 2001615 h 2001615"/>
              <a:gd name="csX3" fmla="*/ 0 w 3501776"/>
              <a:gd name="csY3" fmla="*/ 2001615 h 2001615"/>
              <a:gd name="csX4" fmla="*/ 0 w 3501776"/>
              <a:gd name="csY4" fmla="*/ 0 h 2001615"/>
            </a:gdLst>
            <a:ahLst/>
            <a:cxnLst>
              <a:cxn ang="0">
                <a:pos x="csX0" y="csY0"/>
              </a:cxn>
              <a:cxn ang="0">
                <a:pos x="csX1" y="csY1"/>
              </a:cxn>
              <a:cxn ang="0">
                <a:pos x="csX2" y="csY2"/>
              </a:cxn>
              <a:cxn ang="0">
                <a:pos x="csX3" y="csY3"/>
              </a:cxn>
              <a:cxn ang="0">
                <a:pos x="csX4" y="csY4"/>
              </a:cxn>
            </a:cxnLst>
            <a:rect l="l" t="t" r="r" b="b"/>
            <a:pathLst>
              <a:path w="3501776" h="2001615">
                <a:moveTo>
                  <a:pt x="0" y="0"/>
                </a:moveTo>
                <a:lnTo>
                  <a:pt x="3501776" y="0"/>
                </a:lnTo>
                <a:lnTo>
                  <a:pt x="3501776" y="2001615"/>
                </a:lnTo>
                <a:lnTo>
                  <a:pt x="0" y="2001615"/>
                </a:lnTo>
                <a:lnTo>
                  <a:pt x="0" y="0"/>
                </a:lnTo>
                <a:close/>
              </a:path>
            </a:pathLst>
          </a:custGeom>
          <a:solidFill>
            <a:srgbClr val="E4EEEE">
              <a:alpha val="90000"/>
            </a:srgbClr>
          </a:solidFill>
        </p:spPr>
        <p:style>
          <a:lnRef idx="2">
            <a:schemeClr val="dk1">
              <a:alpha val="90000"/>
              <a:hueOff val="0"/>
              <a:satOff val="0"/>
              <a:lumOff val="0"/>
              <a:alphaOff val="0"/>
            </a:schemeClr>
          </a:lnRef>
          <a:fillRef idx="1">
            <a:scrgbClr r="0" g="0" b="0"/>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Contains 29.6M Rows (Incident Reports Generated from 2005 to March 2026) and 31 Columns. </a:t>
            </a:r>
          </a:p>
        </p:txBody>
      </p:sp>
      <p:sp>
        <p:nvSpPr>
          <p:cNvPr id="26" name="Freeform: Shape 25">
            <a:extLst>
              <a:ext uri="{FF2B5EF4-FFF2-40B4-BE49-F238E27FC236}">
                <a16:creationId xmlns:a16="http://schemas.microsoft.com/office/drawing/2014/main" id="{431A15EB-6493-C156-B17B-68707C1EF23B}"/>
              </a:ext>
            </a:extLst>
          </p:cNvPr>
          <p:cNvSpPr/>
          <p:nvPr/>
        </p:nvSpPr>
        <p:spPr>
          <a:xfrm>
            <a:off x="7846735" y="3516026"/>
            <a:ext cx="3501776" cy="2001615"/>
          </a:xfrm>
          <a:custGeom>
            <a:avLst/>
            <a:gdLst>
              <a:gd name="csX0" fmla="*/ 0 w 3501776"/>
              <a:gd name="csY0" fmla="*/ 0 h 2001615"/>
              <a:gd name="csX1" fmla="*/ 3501776 w 3501776"/>
              <a:gd name="csY1" fmla="*/ 0 h 2001615"/>
              <a:gd name="csX2" fmla="*/ 3501776 w 3501776"/>
              <a:gd name="csY2" fmla="*/ 2001615 h 2001615"/>
              <a:gd name="csX3" fmla="*/ 0 w 3501776"/>
              <a:gd name="csY3" fmla="*/ 2001615 h 2001615"/>
              <a:gd name="csX4" fmla="*/ 0 w 3501776"/>
              <a:gd name="csY4" fmla="*/ 0 h 2001615"/>
            </a:gdLst>
            <a:ahLst/>
            <a:cxnLst>
              <a:cxn ang="0">
                <a:pos x="csX0" y="csY0"/>
              </a:cxn>
              <a:cxn ang="0">
                <a:pos x="csX1" y="csY1"/>
              </a:cxn>
              <a:cxn ang="0">
                <a:pos x="csX2" y="csY2"/>
              </a:cxn>
              <a:cxn ang="0">
                <a:pos x="csX3" y="csY3"/>
              </a:cxn>
              <a:cxn ang="0">
                <a:pos x="csX4" y="csY4"/>
              </a:cxn>
            </a:cxnLst>
            <a:rect l="l" t="t" r="r" b="b"/>
            <a:pathLst>
              <a:path w="3501776" h="2001615">
                <a:moveTo>
                  <a:pt x="0" y="0"/>
                </a:moveTo>
                <a:lnTo>
                  <a:pt x="3501776" y="0"/>
                </a:lnTo>
                <a:lnTo>
                  <a:pt x="3501776" y="2001615"/>
                </a:lnTo>
                <a:lnTo>
                  <a:pt x="0" y="2001615"/>
                </a:lnTo>
                <a:lnTo>
                  <a:pt x="0" y="0"/>
                </a:lnTo>
                <a:close/>
              </a:path>
            </a:pathLst>
          </a:custGeom>
          <a:solidFill>
            <a:srgbClr val="E4EEEE">
              <a:alpha val="90000"/>
            </a:srgbClr>
          </a:solidFill>
        </p:spPr>
        <p:style>
          <a:lnRef idx="2">
            <a:schemeClr val="dk1">
              <a:alpha val="90000"/>
              <a:hueOff val="0"/>
              <a:satOff val="0"/>
              <a:lumOff val="0"/>
              <a:alphaOff val="0"/>
            </a:schemeClr>
          </a:lnRef>
          <a:fillRef idx="1">
            <a:scrgbClr r="0" g="0" b="0"/>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4912" tIns="33020" rIns="184912" bIns="33020" numCol="1" spcCol="1270" anchor="ctr" anchorCtr="0">
            <a:noAutofit/>
          </a:bodyPr>
          <a:lstStyle/>
          <a:p>
            <a:pPr marL="0" lvl="0" indent="0" algn="ctr" defTabSz="1155700">
              <a:lnSpc>
                <a:spcPct val="90000"/>
              </a:lnSpc>
              <a:spcBef>
                <a:spcPct val="0"/>
              </a:spcBef>
              <a:spcAft>
                <a:spcPct val="35000"/>
              </a:spcAft>
              <a:buNone/>
            </a:pPr>
            <a:r>
              <a:rPr lang="en-US" sz="2600" kern="1200" dirty="0"/>
              <a:t>For my research, I will only focus on data from 2024 (~1.5M Records).</a:t>
            </a:r>
          </a:p>
        </p:txBody>
      </p:sp>
    </p:spTree>
    <p:extLst>
      <p:ext uri="{BB962C8B-B14F-4D97-AF65-F5344CB8AC3E}">
        <p14:creationId xmlns:p14="http://schemas.microsoft.com/office/powerpoint/2010/main" val="301452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1000"/>
                                        <p:tgtEl>
                                          <p:spTgt spid="26"/>
                                        </p:tgtEl>
                                      </p:cBhvr>
                                    </p:animEffect>
                                    <p:anim calcmode="lin" valueType="num">
                                      <p:cBhvr>
                                        <p:cTn id="27" dur="1000" fill="hold"/>
                                        <p:tgtEl>
                                          <p:spTgt spid="26"/>
                                        </p:tgtEl>
                                        <p:attrNameLst>
                                          <p:attrName>ppt_x</p:attrName>
                                        </p:attrNameLst>
                                      </p:cBhvr>
                                      <p:tavLst>
                                        <p:tav tm="0">
                                          <p:val>
                                            <p:strVal val="#ppt_x"/>
                                          </p:val>
                                        </p:tav>
                                        <p:tav tm="100000">
                                          <p:val>
                                            <p:strVal val="#ppt_x"/>
                                          </p:val>
                                        </p:tav>
                                      </p:tavLst>
                                    </p:anim>
                                    <p:anim calcmode="lin" valueType="num">
                                      <p:cBhvr>
                                        <p:cTn id="2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9" name="Freeform: Shape 28">
            <a:extLst>
              <a:ext uri="{FF2B5EF4-FFF2-40B4-BE49-F238E27FC236}">
                <a16:creationId xmlns:a16="http://schemas.microsoft.com/office/drawing/2014/main" id="{F523BEA8-C02A-FB48-38EA-80C5D7669F8E}"/>
              </a:ext>
            </a:extLst>
          </p:cNvPr>
          <p:cNvSpPr/>
          <p:nvPr/>
        </p:nvSpPr>
        <p:spPr>
          <a:xfrm>
            <a:off x="985598" y="482600"/>
            <a:ext cx="4538936" cy="3996756"/>
          </a:xfrm>
          <a:custGeom>
            <a:avLst/>
            <a:gdLst>
              <a:gd name="csX0" fmla="*/ 271058 w 4538936"/>
              <a:gd name="csY0" fmla="*/ 0 h 3388220"/>
              <a:gd name="csX1" fmla="*/ 4267878 w 4538936"/>
              <a:gd name="csY1" fmla="*/ 0 h 3388220"/>
              <a:gd name="csX2" fmla="*/ 4538936 w 4538936"/>
              <a:gd name="csY2" fmla="*/ 271058 h 3388220"/>
              <a:gd name="csX3" fmla="*/ 4538936 w 4538936"/>
              <a:gd name="csY3" fmla="*/ 3388220 h 3388220"/>
              <a:gd name="csX4" fmla="*/ 4538936 w 4538936"/>
              <a:gd name="csY4" fmla="*/ 3388220 h 3388220"/>
              <a:gd name="csX5" fmla="*/ 0 w 4538936"/>
              <a:gd name="csY5" fmla="*/ 3388220 h 3388220"/>
              <a:gd name="csX6" fmla="*/ 0 w 4538936"/>
              <a:gd name="csY6" fmla="*/ 3388220 h 3388220"/>
              <a:gd name="csX7" fmla="*/ 0 w 4538936"/>
              <a:gd name="csY7" fmla="*/ 271058 h 3388220"/>
              <a:gd name="csX8" fmla="*/ 271058 w 4538936"/>
              <a:gd name="csY8" fmla="*/ 0 h 3388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538936" h="3388220">
                <a:moveTo>
                  <a:pt x="271058" y="0"/>
                </a:moveTo>
                <a:lnTo>
                  <a:pt x="4267878" y="0"/>
                </a:lnTo>
                <a:cubicBezTo>
                  <a:pt x="4417579" y="0"/>
                  <a:pt x="4538936" y="121357"/>
                  <a:pt x="4538936" y="271058"/>
                </a:cubicBezTo>
                <a:lnTo>
                  <a:pt x="4538936" y="3388220"/>
                </a:lnTo>
                <a:lnTo>
                  <a:pt x="4538936" y="3388220"/>
                </a:lnTo>
                <a:lnTo>
                  <a:pt x="0" y="3388220"/>
                </a:lnTo>
                <a:lnTo>
                  <a:pt x="0" y="3388220"/>
                </a:lnTo>
                <a:lnTo>
                  <a:pt x="0" y="271058"/>
                </a:lnTo>
                <a:cubicBezTo>
                  <a:pt x="0" y="121357"/>
                  <a:pt x="121357" y="0"/>
                  <a:pt x="271058" y="0"/>
                </a:cubicBezTo>
                <a:close/>
              </a:path>
            </a:pathLst>
          </a:custGeom>
          <a:solidFill>
            <a:srgbClr val="E4EEEE"/>
          </a:solidFill>
        </p:spPr>
        <p:style>
          <a:lnRef idx="2">
            <a:schemeClr val="dk1">
              <a:hueOff val="0"/>
              <a:satOff val="0"/>
              <a:lumOff val="0"/>
              <a:alphaOff val="0"/>
            </a:schemeClr>
          </a:lnRef>
          <a:fillRef idx="1">
            <a:scrgbClr r="0" g="0" b="0"/>
          </a:fillRef>
          <a:effectRef idx="0">
            <a:schemeClr val="dk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1300" tIns="205120" rIns="121300" bIns="41910" numCol="1" spcCol="1270" anchor="t" anchorCtr="0">
            <a:noAutofit/>
          </a:bodyPr>
          <a:lstStyle/>
          <a:p>
            <a:pPr marL="285750" lvl="1" indent="-285750" algn="l" defTabSz="1466850">
              <a:lnSpc>
                <a:spcPct val="90000"/>
              </a:lnSpc>
              <a:spcBef>
                <a:spcPct val="0"/>
              </a:spcBef>
              <a:spcAft>
                <a:spcPct val="15000"/>
              </a:spcAft>
              <a:buFont typeface="Wingdings" panose="05000000000000000000" pitchFamily="2" charset="2"/>
              <a:buChar char="Ø"/>
            </a:pPr>
            <a:r>
              <a:rPr lang="en-US" sz="3200" kern="1200" dirty="0">
                <a:solidFill>
                  <a:schemeClr val="tx1"/>
                </a:solidFill>
              </a:rPr>
              <a:t>Does EMS response times vary significantly by Borough?</a:t>
            </a:r>
          </a:p>
        </p:txBody>
      </p:sp>
      <p:sp>
        <p:nvSpPr>
          <p:cNvPr id="31" name="Freeform: Shape 30">
            <a:extLst>
              <a:ext uri="{FF2B5EF4-FFF2-40B4-BE49-F238E27FC236}">
                <a16:creationId xmlns:a16="http://schemas.microsoft.com/office/drawing/2014/main" id="{A45009BE-5BBA-7D7C-5091-5AA7F86271CA}"/>
              </a:ext>
            </a:extLst>
          </p:cNvPr>
          <p:cNvSpPr/>
          <p:nvPr/>
        </p:nvSpPr>
        <p:spPr>
          <a:xfrm>
            <a:off x="985598" y="4479356"/>
            <a:ext cx="4538936" cy="1718604"/>
          </a:xfrm>
          <a:custGeom>
            <a:avLst/>
            <a:gdLst>
              <a:gd name="csX0" fmla="*/ 0 w 4538936"/>
              <a:gd name="csY0" fmla="*/ 0 h 1456934"/>
              <a:gd name="csX1" fmla="*/ 4538936 w 4538936"/>
              <a:gd name="csY1" fmla="*/ 0 h 1456934"/>
              <a:gd name="csX2" fmla="*/ 4538936 w 4538936"/>
              <a:gd name="csY2" fmla="*/ 1456934 h 1456934"/>
              <a:gd name="csX3" fmla="*/ 0 w 4538936"/>
              <a:gd name="csY3" fmla="*/ 1456934 h 1456934"/>
              <a:gd name="csX4" fmla="*/ 0 w 4538936"/>
              <a:gd name="csY4" fmla="*/ 0 h 1456934"/>
            </a:gdLst>
            <a:ahLst/>
            <a:cxnLst>
              <a:cxn ang="0">
                <a:pos x="csX0" y="csY0"/>
              </a:cxn>
              <a:cxn ang="0">
                <a:pos x="csX1" y="csY1"/>
              </a:cxn>
              <a:cxn ang="0">
                <a:pos x="csX2" y="csY2"/>
              </a:cxn>
              <a:cxn ang="0">
                <a:pos x="csX3" y="csY3"/>
              </a:cxn>
              <a:cxn ang="0">
                <a:pos x="csX4" y="csY4"/>
              </a:cxn>
            </a:cxnLst>
            <a:rect l="l" t="t" r="r" b="b"/>
            <a:pathLst>
              <a:path w="4538936" h="1456934">
                <a:moveTo>
                  <a:pt x="0" y="0"/>
                </a:moveTo>
                <a:lnTo>
                  <a:pt x="4538936" y="0"/>
                </a:lnTo>
                <a:lnTo>
                  <a:pt x="4538936" y="1456934"/>
                </a:lnTo>
                <a:lnTo>
                  <a:pt x="0" y="1456934"/>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6210" tIns="0" rIns="1394572" bIns="0" numCol="1" spcCol="1270" anchor="ctr" anchorCtr="0">
            <a:noAutofit/>
          </a:bodyPr>
          <a:lstStyle/>
          <a:p>
            <a:pPr marL="0" lvl="0" indent="0" algn="l" defTabSz="1822450">
              <a:lnSpc>
                <a:spcPct val="90000"/>
              </a:lnSpc>
              <a:spcBef>
                <a:spcPct val="0"/>
              </a:spcBef>
              <a:spcAft>
                <a:spcPct val="35000"/>
              </a:spcAft>
              <a:buNone/>
            </a:pPr>
            <a:r>
              <a:rPr lang="en-US" sz="4000" kern="1200" dirty="0">
                <a:solidFill>
                  <a:schemeClr val="tx1"/>
                </a:solidFill>
              </a:rPr>
              <a:t>Research Question</a:t>
            </a:r>
          </a:p>
        </p:txBody>
      </p:sp>
      <p:sp>
        <p:nvSpPr>
          <p:cNvPr id="33" name="Oval 32" descr="Questions with solid fill">
            <a:extLst>
              <a:ext uri="{FF2B5EF4-FFF2-40B4-BE49-F238E27FC236}">
                <a16:creationId xmlns:a16="http://schemas.microsoft.com/office/drawing/2014/main" id="{7E91206B-F163-E740-B55F-3BC25D6183CD}"/>
              </a:ext>
            </a:extLst>
          </p:cNvPr>
          <p:cNvSpPr/>
          <p:nvPr/>
        </p:nvSpPr>
        <p:spPr>
          <a:xfrm>
            <a:off x="4310432" y="4752341"/>
            <a:ext cx="1588627" cy="1873950"/>
          </a:xfrm>
          <a:prstGeom prst="ellipse">
            <a:avLst/>
          </a:prstGeom>
          <a:blipFill>
            <a:blip>
              <a:extLst>
                <a:ext uri="{96DAC541-7B7A-43D3-8B79-37D633B846F1}">
                  <asvg:svgBlip xmlns:asvg="http://schemas.microsoft.com/office/drawing/2016/SVG/main" r:embed="rId3"/>
                </a:ext>
              </a:extLst>
            </a:blip>
            <a:srcRect/>
            <a:stretch>
              <a:fillRect/>
            </a:stretch>
          </a:blipFill>
        </p:spPr>
        <p:style>
          <a:lnRef idx="2">
            <a:schemeClr val="dk1">
              <a:alpha val="90000"/>
              <a:hueOff val="0"/>
              <a:satOff val="0"/>
              <a:lumOff val="0"/>
              <a:alphaOff val="0"/>
            </a:schemeClr>
          </a:lnRef>
          <a:fillRef idx="1">
            <a:scrgbClr r="0" g="0" b="0"/>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a:lstStyle/>
          <a:p>
            <a:endParaRPr lang="en-US" sz="1600"/>
          </a:p>
        </p:txBody>
      </p:sp>
      <p:sp>
        <p:nvSpPr>
          <p:cNvPr id="35" name="Freeform: Shape 34">
            <a:extLst>
              <a:ext uri="{FF2B5EF4-FFF2-40B4-BE49-F238E27FC236}">
                <a16:creationId xmlns:a16="http://schemas.microsoft.com/office/drawing/2014/main" id="{53BFDB49-71DA-0CA8-E896-8E631B52E9A2}"/>
              </a:ext>
            </a:extLst>
          </p:cNvPr>
          <p:cNvSpPr/>
          <p:nvPr/>
        </p:nvSpPr>
        <p:spPr>
          <a:xfrm>
            <a:off x="6292632" y="482600"/>
            <a:ext cx="4538936" cy="3996756"/>
          </a:xfrm>
          <a:custGeom>
            <a:avLst/>
            <a:gdLst>
              <a:gd name="csX0" fmla="*/ 271058 w 4538936"/>
              <a:gd name="csY0" fmla="*/ 0 h 3388220"/>
              <a:gd name="csX1" fmla="*/ 4267878 w 4538936"/>
              <a:gd name="csY1" fmla="*/ 0 h 3388220"/>
              <a:gd name="csX2" fmla="*/ 4538936 w 4538936"/>
              <a:gd name="csY2" fmla="*/ 271058 h 3388220"/>
              <a:gd name="csX3" fmla="*/ 4538936 w 4538936"/>
              <a:gd name="csY3" fmla="*/ 3388220 h 3388220"/>
              <a:gd name="csX4" fmla="*/ 4538936 w 4538936"/>
              <a:gd name="csY4" fmla="*/ 3388220 h 3388220"/>
              <a:gd name="csX5" fmla="*/ 0 w 4538936"/>
              <a:gd name="csY5" fmla="*/ 3388220 h 3388220"/>
              <a:gd name="csX6" fmla="*/ 0 w 4538936"/>
              <a:gd name="csY6" fmla="*/ 3388220 h 3388220"/>
              <a:gd name="csX7" fmla="*/ 0 w 4538936"/>
              <a:gd name="csY7" fmla="*/ 271058 h 3388220"/>
              <a:gd name="csX8" fmla="*/ 271058 w 4538936"/>
              <a:gd name="csY8" fmla="*/ 0 h 3388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538936" h="3388220">
                <a:moveTo>
                  <a:pt x="271058" y="0"/>
                </a:moveTo>
                <a:lnTo>
                  <a:pt x="4267878" y="0"/>
                </a:lnTo>
                <a:cubicBezTo>
                  <a:pt x="4417579" y="0"/>
                  <a:pt x="4538936" y="121357"/>
                  <a:pt x="4538936" y="271058"/>
                </a:cubicBezTo>
                <a:lnTo>
                  <a:pt x="4538936" y="3388220"/>
                </a:lnTo>
                <a:lnTo>
                  <a:pt x="4538936" y="3388220"/>
                </a:lnTo>
                <a:lnTo>
                  <a:pt x="0" y="3388220"/>
                </a:lnTo>
                <a:lnTo>
                  <a:pt x="0" y="3388220"/>
                </a:lnTo>
                <a:lnTo>
                  <a:pt x="0" y="271058"/>
                </a:lnTo>
                <a:cubicBezTo>
                  <a:pt x="0" y="121357"/>
                  <a:pt x="121357" y="0"/>
                  <a:pt x="271058" y="0"/>
                </a:cubicBezTo>
                <a:close/>
              </a:path>
            </a:pathLst>
          </a:custGeom>
          <a:solidFill>
            <a:srgbClr val="E4EEEE">
              <a:alpha val="90000"/>
            </a:srgbClr>
          </a:solidFill>
        </p:spPr>
        <p:style>
          <a:lnRef idx="2">
            <a:schemeClr val="dk1">
              <a:hueOff val="0"/>
              <a:satOff val="0"/>
              <a:lumOff val="0"/>
              <a:alphaOff val="0"/>
            </a:schemeClr>
          </a:lnRef>
          <a:fillRef idx="1">
            <a:scrgbClr r="0" g="0" b="0"/>
          </a:fillRef>
          <a:effectRef idx="0">
            <a:schemeClr val="dk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1300" tIns="205120" rIns="121300" bIns="41910" numCol="1" spcCol="1270" anchor="t" anchorCtr="0">
            <a:noAutofit/>
          </a:bodyPr>
          <a:lstStyle/>
          <a:p>
            <a:pPr marL="285750" lvl="1" indent="-285750" algn="l" defTabSz="1466850">
              <a:lnSpc>
                <a:spcPct val="90000"/>
              </a:lnSpc>
              <a:spcBef>
                <a:spcPct val="0"/>
              </a:spcBef>
              <a:spcAft>
                <a:spcPct val="15000"/>
              </a:spcAft>
              <a:buFont typeface="Wingdings" panose="05000000000000000000" pitchFamily="2" charset="2"/>
              <a:buChar char="Ø"/>
            </a:pPr>
            <a:r>
              <a:rPr lang="en-US" sz="3200" dirty="0">
                <a:solidFill>
                  <a:schemeClr val="tx1"/>
                </a:solidFill>
              </a:rPr>
              <a:t>Pandas &amp; NumPy</a:t>
            </a:r>
            <a:r>
              <a:rPr lang="en-US" sz="3200" kern="1200" dirty="0">
                <a:solidFill>
                  <a:schemeClr val="tx1"/>
                </a:solidFill>
              </a:rPr>
              <a:t> </a:t>
            </a:r>
          </a:p>
          <a:p>
            <a:pPr marL="742950" lvl="2" indent="-285750" defTabSz="1466850">
              <a:lnSpc>
                <a:spcPct val="90000"/>
              </a:lnSpc>
              <a:spcBef>
                <a:spcPct val="0"/>
              </a:spcBef>
              <a:spcAft>
                <a:spcPct val="15000"/>
              </a:spcAft>
              <a:buFont typeface="Wingdings" panose="05000000000000000000" pitchFamily="2" charset="2"/>
              <a:buChar char="Ø"/>
            </a:pPr>
            <a:r>
              <a:rPr lang="en-US" sz="2800" kern="1200" dirty="0">
                <a:solidFill>
                  <a:schemeClr val="tx1"/>
                </a:solidFill>
              </a:rPr>
              <a:t>  Data Cleaning</a:t>
            </a:r>
          </a:p>
          <a:p>
            <a:pPr lvl="2" indent="-457200" defTabSz="1466850">
              <a:lnSpc>
                <a:spcPct val="90000"/>
              </a:lnSpc>
              <a:spcBef>
                <a:spcPct val="0"/>
              </a:spcBef>
              <a:spcAft>
                <a:spcPct val="15000"/>
              </a:spcAft>
              <a:buFont typeface="Wingdings" panose="05000000000000000000" pitchFamily="2" charset="2"/>
              <a:buChar char="Ø"/>
            </a:pPr>
            <a:r>
              <a:rPr lang="en-US" sz="2800" kern="1200" dirty="0">
                <a:solidFill>
                  <a:schemeClr val="tx1"/>
                </a:solidFill>
              </a:rPr>
              <a:t>Missing Data Check</a:t>
            </a:r>
          </a:p>
          <a:p>
            <a:pPr lvl="2" indent="-457200" defTabSz="1466850">
              <a:lnSpc>
                <a:spcPct val="90000"/>
              </a:lnSpc>
              <a:spcBef>
                <a:spcPct val="0"/>
              </a:spcBef>
              <a:spcAft>
                <a:spcPct val="15000"/>
              </a:spcAft>
              <a:buFont typeface="Wingdings" panose="05000000000000000000" pitchFamily="2" charset="2"/>
              <a:buChar char="Ø"/>
            </a:pPr>
            <a:r>
              <a:rPr lang="en-US" sz="2800" kern="1200" dirty="0">
                <a:solidFill>
                  <a:schemeClr val="tx1"/>
                </a:solidFill>
              </a:rPr>
              <a:t>Descriptive Statistics </a:t>
            </a:r>
          </a:p>
          <a:p>
            <a:pPr lvl="1" indent="-457200" algn="l" defTabSz="1466850">
              <a:lnSpc>
                <a:spcPct val="90000"/>
              </a:lnSpc>
              <a:spcBef>
                <a:spcPct val="0"/>
              </a:spcBef>
              <a:spcAft>
                <a:spcPct val="15000"/>
              </a:spcAft>
              <a:buFont typeface="Wingdings" panose="05000000000000000000" pitchFamily="2" charset="2"/>
              <a:buChar char="Ø"/>
            </a:pPr>
            <a:r>
              <a:rPr lang="en-US" sz="3200" kern="1200" dirty="0">
                <a:solidFill>
                  <a:schemeClr val="tx1"/>
                </a:solidFill>
              </a:rPr>
              <a:t>Matplotlib:</a:t>
            </a:r>
          </a:p>
          <a:p>
            <a:pPr lvl="2" indent="-457200" defTabSz="1466850">
              <a:lnSpc>
                <a:spcPct val="90000"/>
              </a:lnSpc>
              <a:spcBef>
                <a:spcPct val="0"/>
              </a:spcBef>
              <a:spcAft>
                <a:spcPct val="15000"/>
              </a:spcAft>
              <a:buFont typeface="Wingdings" panose="05000000000000000000" pitchFamily="2" charset="2"/>
              <a:buChar char="Ø"/>
            </a:pPr>
            <a:r>
              <a:rPr lang="en-US" sz="2800" kern="1200" dirty="0">
                <a:solidFill>
                  <a:schemeClr val="tx1"/>
                </a:solidFill>
              </a:rPr>
              <a:t>Visual Analysis</a:t>
            </a:r>
          </a:p>
          <a:p>
            <a:pPr lvl="1" indent="-457200" defTabSz="1466850">
              <a:lnSpc>
                <a:spcPct val="90000"/>
              </a:lnSpc>
              <a:spcBef>
                <a:spcPct val="0"/>
              </a:spcBef>
              <a:spcAft>
                <a:spcPct val="15000"/>
              </a:spcAft>
              <a:buFont typeface="Wingdings" panose="05000000000000000000" pitchFamily="2" charset="2"/>
              <a:buChar char="Ø"/>
            </a:pPr>
            <a:r>
              <a:rPr lang="en-US" sz="3200" dirty="0">
                <a:solidFill>
                  <a:schemeClr val="tx1"/>
                </a:solidFill>
              </a:rPr>
              <a:t>SciPy &amp; </a:t>
            </a:r>
            <a:r>
              <a:rPr lang="en-US" sz="3200" dirty="0" err="1">
                <a:solidFill>
                  <a:schemeClr val="tx1"/>
                </a:solidFill>
              </a:rPr>
              <a:t>Statsmodel</a:t>
            </a:r>
            <a:endParaRPr lang="en-US" sz="3200" dirty="0">
              <a:solidFill>
                <a:schemeClr val="tx1"/>
              </a:solidFill>
            </a:endParaRPr>
          </a:p>
          <a:p>
            <a:pPr lvl="2" indent="-457200" defTabSz="1466850">
              <a:lnSpc>
                <a:spcPct val="90000"/>
              </a:lnSpc>
              <a:spcBef>
                <a:spcPct val="0"/>
              </a:spcBef>
              <a:spcAft>
                <a:spcPct val="15000"/>
              </a:spcAft>
              <a:buFont typeface="Wingdings" panose="05000000000000000000" pitchFamily="2" charset="2"/>
              <a:buChar char="Ø"/>
            </a:pPr>
            <a:r>
              <a:rPr lang="en-US" sz="2800" dirty="0">
                <a:solidFill>
                  <a:schemeClr val="tx1"/>
                </a:solidFill>
              </a:rPr>
              <a:t>Regression Analysis</a:t>
            </a:r>
          </a:p>
          <a:p>
            <a:pPr lvl="1" indent="-457200" defTabSz="1466850">
              <a:lnSpc>
                <a:spcPct val="90000"/>
              </a:lnSpc>
              <a:spcBef>
                <a:spcPct val="0"/>
              </a:spcBef>
              <a:spcAft>
                <a:spcPct val="15000"/>
              </a:spcAft>
              <a:buFont typeface="Wingdings" panose="05000000000000000000" pitchFamily="2" charset="2"/>
              <a:buChar char="Ø"/>
            </a:pPr>
            <a:endParaRPr lang="en-US" sz="2800" kern="1200" dirty="0">
              <a:solidFill>
                <a:schemeClr val="tx1"/>
              </a:solidFill>
            </a:endParaRPr>
          </a:p>
        </p:txBody>
      </p:sp>
      <p:sp>
        <p:nvSpPr>
          <p:cNvPr id="36" name="Freeform: Shape 35">
            <a:extLst>
              <a:ext uri="{FF2B5EF4-FFF2-40B4-BE49-F238E27FC236}">
                <a16:creationId xmlns:a16="http://schemas.microsoft.com/office/drawing/2014/main" id="{4AF462DB-6356-A075-0999-798014564703}"/>
              </a:ext>
            </a:extLst>
          </p:cNvPr>
          <p:cNvSpPr/>
          <p:nvPr/>
        </p:nvSpPr>
        <p:spPr>
          <a:xfrm>
            <a:off x="6292632" y="4479356"/>
            <a:ext cx="4538936" cy="1718604"/>
          </a:xfrm>
          <a:custGeom>
            <a:avLst/>
            <a:gdLst>
              <a:gd name="csX0" fmla="*/ 0 w 4538936"/>
              <a:gd name="csY0" fmla="*/ 0 h 1456934"/>
              <a:gd name="csX1" fmla="*/ 4538936 w 4538936"/>
              <a:gd name="csY1" fmla="*/ 0 h 1456934"/>
              <a:gd name="csX2" fmla="*/ 4538936 w 4538936"/>
              <a:gd name="csY2" fmla="*/ 1456934 h 1456934"/>
              <a:gd name="csX3" fmla="*/ 0 w 4538936"/>
              <a:gd name="csY3" fmla="*/ 1456934 h 1456934"/>
              <a:gd name="csX4" fmla="*/ 0 w 4538936"/>
              <a:gd name="csY4" fmla="*/ 0 h 1456934"/>
            </a:gdLst>
            <a:ahLst/>
            <a:cxnLst>
              <a:cxn ang="0">
                <a:pos x="csX0" y="csY0"/>
              </a:cxn>
              <a:cxn ang="0">
                <a:pos x="csX1" y="csY1"/>
              </a:cxn>
              <a:cxn ang="0">
                <a:pos x="csX2" y="csY2"/>
              </a:cxn>
              <a:cxn ang="0">
                <a:pos x="csX3" y="csY3"/>
              </a:cxn>
              <a:cxn ang="0">
                <a:pos x="csX4" y="csY4"/>
              </a:cxn>
            </a:cxnLst>
            <a:rect l="l" t="t" r="r" b="b"/>
            <a:pathLst>
              <a:path w="4538936" h="1456934">
                <a:moveTo>
                  <a:pt x="0" y="0"/>
                </a:moveTo>
                <a:lnTo>
                  <a:pt x="4538936" y="0"/>
                </a:lnTo>
                <a:lnTo>
                  <a:pt x="4538936" y="1456934"/>
                </a:lnTo>
                <a:lnTo>
                  <a:pt x="0" y="1456934"/>
                </a:lnTo>
                <a:lnTo>
                  <a:pt x="0" y="0"/>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6210" tIns="0" rIns="1394572" bIns="0" numCol="1" spcCol="1270" anchor="ctr" anchorCtr="0">
            <a:noAutofit/>
          </a:bodyPr>
          <a:lstStyle/>
          <a:p>
            <a:pPr marL="0" lvl="0" indent="0" algn="l" defTabSz="1822450">
              <a:lnSpc>
                <a:spcPct val="90000"/>
              </a:lnSpc>
              <a:spcBef>
                <a:spcPct val="0"/>
              </a:spcBef>
              <a:spcAft>
                <a:spcPct val="35000"/>
              </a:spcAft>
              <a:buNone/>
            </a:pPr>
            <a:r>
              <a:rPr lang="en-US" sz="4000" kern="1200" dirty="0">
                <a:solidFill>
                  <a:schemeClr val="tx1"/>
                </a:solidFill>
              </a:rPr>
              <a:t>Methodology</a:t>
            </a:r>
          </a:p>
        </p:txBody>
      </p:sp>
      <p:sp>
        <p:nvSpPr>
          <p:cNvPr id="37" name="Oval 36" descr="Database with solid fill">
            <a:extLst>
              <a:ext uri="{FF2B5EF4-FFF2-40B4-BE49-F238E27FC236}">
                <a16:creationId xmlns:a16="http://schemas.microsoft.com/office/drawing/2014/main" id="{38B706D2-6D29-59E6-D01C-C48D90E1887F}"/>
              </a:ext>
            </a:extLst>
          </p:cNvPr>
          <p:cNvSpPr/>
          <p:nvPr/>
        </p:nvSpPr>
        <p:spPr>
          <a:xfrm>
            <a:off x="9617466" y="4752341"/>
            <a:ext cx="1588627" cy="1873950"/>
          </a:xfrm>
          <a:prstGeom prst="ellipse">
            <a:avLst/>
          </a:prstGeom>
          <a:blipFill>
            <a:blip>
              <a:extLst>
                <a:ext uri="{96DAC541-7B7A-43D3-8B79-37D633B846F1}">
                  <asvg:svgBlip xmlns:asvg="http://schemas.microsoft.com/office/drawing/2016/SVG/main" r:embed="rId4"/>
                </a:ext>
              </a:extLst>
            </a:blip>
            <a:srcRect/>
            <a:stretch>
              <a:fillRect/>
            </a:stretch>
          </a:blipFill>
        </p:spPr>
        <p:style>
          <a:lnRef idx="2">
            <a:schemeClr val="dk1">
              <a:alpha val="90000"/>
              <a:hueOff val="0"/>
              <a:satOff val="0"/>
              <a:lumOff val="0"/>
              <a:alphaOff val="0"/>
            </a:schemeClr>
          </a:lnRef>
          <a:fillRef idx="1">
            <a:scrgbClr r="0" g="0" b="0"/>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a:lstStyle/>
          <a:p>
            <a:endParaRPr lang="en-US" sz="1600"/>
          </a:p>
        </p:txBody>
      </p:sp>
    </p:spTree>
    <p:extLst>
      <p:ext uri="{BB962C8B-B14F-4D97-AF65-F5344CB8AC3E}">
        <p14:creationId xmlns:p14="http://schemas.microsoft.com/office/powerpoint/2010/main" val="428864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fade">
                                      <p:cBhvr>
                                        <p:cTn id="20" dur="500"/>
                                        <p:tgtEl>
                                          <p:spTgt spid="3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3" grpId="0" animBg="1"/>
      <p:bldP spid="35" grpId="0" animBg="1"/>
      <p:bldP spid="36"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87C3F6-33CA-ABD5-1297-07E3F1827944}"/>
              </a:ext>
            </a:extLst>
          </p:cNvPr>
          <p:cNvSpPr>
            <a:spLocks noGrp="1"/>
          </p:cNvSpPr>
          <p:nvPr>
            <p:ph type="title"/>
          </p:nvPr>
        </p:nvSpPr>
        <p:spPr>
          <a:xfrm>
            <a:off x="827635" y="379154"/>
            <a:ext cx="9841557" cy="1454051"/>
          </a:xfrm>
        </p:spPr>
        <p:txBody>
          <a:bodyPr>
            <a:normAutofit/>
          </a:bodyPr>
          <a:lstStyle/>
          <a:p>
            <a:r>
              <a:rPr lang="en-US" sz="3600" dirty="0">
                <a:solidFill>
                  <a:schemeClr val="tx2"/>
                </a:solidFill>
              </a:rPr>
              <a:t>Data Cleaning/Transformation</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0" name="Content Placeholder 2">
            <a:extLst>
              <a:ext uri="{FF2B5EF4-FFF2-40B4-BE49-F238E27FC236}">
                <a16:creationId xmlns:a16="http://schemas.microsoft.com/office/drawing/2014/main" id="{ADDAF087-A70C-E7EE-90D3-83B13B7AC36C}"/>
              </a:ext>
            </a:extLst>
          </p:cNvPr>
          <p:cNvGraphicFramePr>
            <a:graphicFrameLocks noGrp="1"/>
          </p:cNvGraphicFramePr>
          <p:nvPr>
            <p:ph idx="1"/>
            <p:extLst>
              <p:ext uri="{D42A27DB-BD31-4B8C-83A1-F6EECF244321}">
                <p14:modId xmlns:p14="http://schemas.microsoft.com/office/powerpoint/2010/main" val="598044874"/>
              </p:ext>
            </p:extLst>
          </p:nvPr>
        </p:nvGraphicFramePr>
        <p:xfrm>
          <a:off x="838200" y="1588523"/>
          <a:ext cx="10515600" cy="46635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892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20">
                                            <p:graphicEl>
                                              <a:dgm id="{F7A7FB7E-0628-428A-A761-5EB8D3F123D5}"/>
                                            </p:graphicEl>
                                          </p:spTgt>
                                        </p:tgtEl>
                                        <p:attrNameLst>
                                          <p:attrName>style.visibility</p:attrName>
                                        </p:attrNameLst>
                                      </p:cBhvr>
                                      <p:to>
                                        <p:strVal val="visible"/>
                                      </p:to>
                                    </p:set>
                                    <p:animEffect transition="in" filter="randombar(vertical)">
                                      <p:cBhvr>
                                        <p:cTn id="7" dur="500"/>
                                        <p:tgtEl>
                                          <p:spTgt spid="20">
                                            <p:graphicEl>
                                              <a:dgm id="{F7A7FB7E-0628-428A-A761-5EB8D3F123D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20">
                                            <p:graphicEl>
                                              <a:dgm id="{EAB8EF09-1706-4C12-9003-D94F7D2E1054}"/>
                                            </p:graphicEl>
                                          </p:spTgt>
                                        </p:tgtEl>
                                        <p:attrNameLst>
                                          <p:attrName>style.visibility</p:attrName>
                                        </p:attrNameLst>
                                      </p:cBhvr>
                                      <p:to>
                                        <p:strVal val="visible"/>
                                      </p:to>
                                    </p:set>
                                    <p:animEffect transition="in" filter="randombar(vertical)">
                                      <p:cBhvr>
                                        <p:cTn id="12" dur="500"/>
                                        <p:tgtEl>
                                          <p:spTgt spid="20">
                                            <p:graphicEl>
                                              <a:dgm id="{EAB8EF09-1706-4C12-9003-D94F7D2E105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20">
                                            <p:graphicEl>
                                              <a:dgm id="{8757CC7F-62C5-4119-B0FB-1AC5B37458DA}"/>
                                            </p:graphicEl>
                                          </p:spTgt>
                                        </p:tgtEl>
                                        <p:attrNameLst>
                                          <p:attrName>style.visibility</p:attrName>
                                        </p:attrNameLst>
                                      </p:cBhvr>
                                      <p:to>
                                        <p:strVal val="visible"/>
                                      </p:to>
                                    </p:set>
                                    <p:animEffect transition="in" filter="randombar(vertical)">
                                      <p:cBhvr>
                                        <p:cTn id="17" dur="500"/>
                                        <p:tgtEl>
                                          <p:spTgt spid="20">
                                            <p:graphicEl>
                                              <a:dgm id="{8757CC7F-62C5-4119-B0FB-1AC5B37458DA}"/>
                                            </p:graphicEl>
                                          </p:spTgt>
                                        </p:tgtEl>
                                      </p:cBhvr>
                                    </p:animEffect>
                                  </p:childTnLst>
                                </p:cTn>
                              </p:par>
                              <p:par>
                                <p:cTn id="18" presetID="14" presetClass="entr" presetSubtype="5" fill="hold" grpId="0" nodeType="withEffect">
                                  <p:stCondLst>
                                    <p:cond delay="0"/>
                                  </p:stCondLst>
                                  <p:childTnLst>
                                    <p:set>
                                      <p:cBhvr>
                                        <p:cTn id="19" dur="1" fill="hold">
                                          <p:stCondLst>
                                            <p:cond delay="0"/>
                                          </p:stCondLst>
                                        </p:cTn>
                                        <p:tgtEl>
                                          <p:spTgt spid="20">
                                            <p:graphicEl>
                                              <a:dgm id="{6D95A72A-4AB6-4806-A5EB-BAB74B5C75A9}"/>
                                            </p:graphicEl>
                                          </p:spTgt>
                                        </p:tgtEl>
                                        <p:attrNameLst>
                                          <p:attrName>style.visibility</p:attrName>
                                        </p:attrNameLst>
                                      </p:cBhvr>
                                      <p:to>
                                        <p:strVal val="visible"/>
                                      </p:to>
                                    </p:set>
                                    <p:animEffect transition="in" filter="randombar(vertical)">
                                      <p:cBhvr>
                                        <p:cTn id="20" dur="500"/>
                                        <p:tgtEl>
                                          <p:spTgt spid="20">
                                            <p:graphicEl>
                                              <a:dgm id="{6D95A72A-4AB6-4806-A5EB-BAB74B5C75A9}"/>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5" fill="hold" grpId="0" nodeType="clickEffect">
                                  <p:stCondLst>
                                    <p:cond delay="0"/>
                                  </p:stCondLst>
                                  <p:childTnLst>
                                    <p:set>
                                      <p:cBhvr>
                                        <p:cTn id="24" dur="1" fill="hold">
                                          <p:stCondLst>
                                            <p:cond delay="0"/>
                                          </p:stCondLst>
                                        </p:cTn>
                                        <p:tgtEl>
                                          <p:spTgt spid="20">
                                            <p:graphicEl>
                                              <a:dgm id="{50368D84-2B3A-4DAB-9CE9-F647AB4B04F4}"/>
                                            </p:graphicEl>
                                          </p:spTgt>
                                        </p:tgtEl>
                                        <p:attrNameLst>
                                          <p:attrName>style.visibility</p:attrName>
                                        </p:attrNameLst>
                                      </p:cBhvr>
                                      <p:to>
                                        <p:strVal val="visible"/>
                                      </p:to>
                                    </p:set>
                                    <p:animEffect transition="in" filter="randombar(vertical)">
                                      <p:cBhvr>
                                        <p:cTn id="25" dur="500"/>
                                        <p:tgtEl>
                                          <p:spTgt spid="20">
                                            <p:graphicEl>
                                              <a:dgm id="{50368D84-2B3A-4DAB-9CE9-F647AB4B04F4}"/>
                                            </p:graphicEl>
                                          </p:spTgt>
                                        </p:tgtEl>
                                      </p:cBhvr>
                                    </p:animEffect>
                                  </p:childTnLst>
                                </p:cTn>
                              </p:par>
                              <p:par>
                                <p:cTn id="26" presetID="14" presetClass="entr" presetSubtype="5" fill="hold" grpId="0" nodeType="withEffect">
                                  <p:stCondLst>
                                    <p:cond delay="0"/>
                                  </p:stCondLst>
                                  <p:childTnLst>
                                    <p:set>
                                      <p:cBhvr>
                                        <p:cTn id="27" dur="1" fill="hold">
                                          <p:stCondLst>
                                            <p:cond delay="0"/>
                                          </p:stCondLst>
                                        </p:cTn>
                                        <p:tgtEl>
                                          <p:spTgt spid="20">
                                            <p:graphicEl>
                                              <a:dgm id="{C9CC93C7-CDCD-4F0D-9B6B-E814AB9140B3}"/>
                                            </p:graphicEl>
                                          </p:spTgt>
                                        </p:tgtEl>
                                        <p:attrNameLst>
                                          <p:attrName>style.visibility</p:attrName>
                                        </p:attrNameLst>
                                      </p:cBhvr>
                                      <p:to>
                                        <p:strVal val="visible"/>
                                      </p:to>
                                    </p:set>
                                    <p:animEffect transition="in" filter="randombar(vertical)">
                                      <p:cBhvr>
                                        <p:cTn id="28" dur="500"/>
                                        <p:tgtEl>
                                          <p:spTgt spid="20">
                                            <p:graphicEl>
                                              <a:dgm id="{C9CC93C7-CDCD-4F0D-9B6B-E814AB9140B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E2CF79-4C75-E926-78F4-70C28BDB89FF}"/>
              </a:ext>
            </a:extLst>
          </p:cNvPr>
          <p:cNvSpPr>
            <a:spLocks noGrp="1"/>
          </p:cNvSpPr>
          <p:nvPr>
            <p:ph type="title"/>
          </p:nvPr>
        </p:nvSpPr>
        <p:spPr>
          <a:xfrm>
            <a:off x="775470" y="298268"/>
            <a:ext cx="10640754" cy="775845"/>
          </a:xfrm>
        </p:spPr>
        <p:txBody>
          <a:bodyPr vert="horz" lIns="91440" tIns="45720" rIns="91440" bIns="45720" rtlCol="0" anchor="b">
            <a:normAutofit/>
          </a:bodyPr>
          <a:lstStyle/>
          <a:p>
            <a:pPr algn="ctr"/>
            <a:r>
              <a:rPr lang="en-US" sz="4000" kern="1200" dirty="0">
                <a:solidFill>
                  <a:schemeClr val="tx2"/>
                </a:solidFill>
                <a:latin typeface="+mj-lt"/>
                <a:ea typeface="+mj-ea"/>
                <a:cs typeface="+mj-cs"/>
              </a:rPr>
              <a:t>Descriptive Analysis: Response Time by Borough</a:t>
            </a:r>
          </a:p>
        </p:txBody>
      </p:sp>
      <p:grpSp>
        <p:nvGrpSpPr>
          <p:cNvPr id="14" name="Group 13">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5" name="Freeform: Shape 14">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Content Placeholder 4">
            <a:extLst>
              <a:ext uri="{FF2B5EF4-FFF2-40B4-BE49-F238E27FC236}">
                <a16:creationId xmlns:a16="http://schemas.microsoft.com/office/drawing/2014/main" id="{B5224D84-F63E-772D-DB6D-3300FF7F3868}"/>
              </a:ext>
            </a:extLst>
          </p:cNvPr>
          <p:cNvPicPr>
            <a:picLocks noGrp="1" noChangeAspect="1"/>
          </p:cNvPicPr>
          <p:nvPr>
            <p:ph idx="1"/>
          </p:nvPr>
        </p:nvPicPr>
        <p:blipFill>
          <a:blip r:embed="rId3"/>
          <a:stretch>
            <a:fillRect/>
          </a:stretch>
        </p:blipFill>
        <p:spPr>
          <a:xfrm>
            <a:off x="332915" y="1108491"/>
            <a:ext cx="11525864" cy="2506873"/>
          </a:xfrm>
          <a:prstGeom prst="rect">
            <a:avLst/>
          </a:prstGeom>
          <a:ln w="57150">
            <a:solidFill>
              <a:srgbClr val="BFD4DC"/>
            </a:solidFill>
          </a:ln>
        </p:spPr>
      </p:pic>
      <p:grpSp>
        <p:nvGrpSpPr>
          <p:cNvPr id="20" name="Group 19">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1" name="Freeform: Shape 20">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74EDF8A9-F7EB-D780-2A1C-11EA8D434876}"/>
              </a:ext>
            </a:extLst>
          </p:cNvPr>
          <p:cNvSpPr txBox="1"/>
          <p:nvPr/>
        </p:nvSpPr>
        <p:spPr>
          <a:xfrm>
            <a:off x="6400494" y="4606750"/>
            <a:ext cx="5015730" cy="1200329"/>
          </a:xfrm>
          <a:prstGeom prst="rect">
            <a:avLst/>
          </a:prstGeom>
          <a:noFill/>
          <a:ln w="57150">
            <a:solidFill>
              <a:srgbClr val="BFD4DC"/>
            </a:solidFill>
          </a:ln>
        </p:spPr>
        <p:txBody>
          <a:bodyPr wrap="square" rtlCol="0">
            <a:spAutoFit/>
          </a:bodyPr>
          <a:lstStyle/>
          <a:p>
            <a:pPr algn="ctr"/>
            <a:r>
              <a:rPr lang="en-US" dirty="0"/>
              <a:t>The table above shows number of incidents and response time distribution by borough. Brooklyn has the highest number of incidents while Staten Island has the lowest.</a:t>
            </a:r>
          </a:p>
        </p:txBody>
      </p:sp>
      <p:pic>
        <p:nvPicPr>
          <p:cNvPr id="7" name="Content Placeholder 4">
            <a:extLst>
              <a:ext uri="{FF2B5EF4-FFF2-40B4-BE49-F238E27FC236}">
                <a16:creationId xmlns:a16="http://schemas.microsoft.com/office/drawing/2014/main" id="{AF4ACF69-CF26-F703-F2DF-E6BC57C3CF15}"/>
              </a:ext>
            </a:extLst>
          </p:cNvPr>
          <p:cNvPicPr>
            <a:picLocks noChangeAspect="1"/>
          </p:cNvPicPr>
          <p:nvPr/>
        </p:nvPicPr>
        <p:blipFill>
          <a:blip r:embed="rId4"/>
          <a:stretch>
            <a:fillRect/>
          </a:stretch>
        </p:blipFill>
        <p:spPr>
          <a:xfrm>
            <a:off x="1227767" y="3857030"/>
            <a:ext cx="4945452" cy="2699770"/>
          </a:xfrm>
          <a:prstGeom prst="rect">
            <a:avLst/>
          </a:prstGeom>
          <a:ln w="57150">
            <a:solidFill>
              <a:srgbClr val="BFD4DC"/>
            </a:solidFill>
          </a:ln>
        </p:spPr>
      </p:pic>
    </p:spTree>
    <p:extLst>
      <p:ext uri="{BB962C8B-B14F-4D97-AF65-F5344CB8AC3E}">
        <p14:creationId xmlns:p14="http://schemas.microsoft.com/office/powerpoint/2010/main" val="1284996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DCF8FC94-023F-A2CE-4F5D-925F991498C6}"/>
              </a:ext>
            </a:extLst>
          </p:cNvPr>
          <p:cNvSpPr>
            <a:spLocks noGrp="1"/>
          </p:cNvSpPr>
          <p:nvPr>
            <p:ph type="title"/>
          </p:nvPr>
        </p:nvSpPr>
        <p:spPr>
          <a:xfrm>
            <a:off x="3302243" y="2030779"/>
            <a:ext cx="5760846" cy="2796442"/>
          </a:xfrm>
        </p:spPr>
        <p:txBody>
          <a:bodyPr vert="horz" lIns="91440" tIns="45720" rIns="91440" bIns="45720" rtlCol="0" anchor="ctr">
            <a:normAutofit/>
          </a:bodyPr>
          <a:lstStyle/>
          <a:p>
            <a:pPr algn="ctr"/>
            <a:r>
              <a:rPr lang="en-US" sz="8000" kern="1200" dirty="0">
                <a:solidFill>
                  <a:schemeClr val="tx2"/>
                </a:solidFill>
                <a:latin typeface="+mj-lt"/>
                <a:ea typeface="+mj-ea"/>
                <a:cs typeface="+mj-cs"/>
              </a:rPr>
              <a:t>Data Visualization</a:t>
            </a:r>
          </a:p>
        </p:txBody>
      </p:sp>
    </p:spTree>
    <p:extLst>
      <p:ext uri="{BB962C8B-B14F-4D97-AF65-F5344CB8AC3E}">
        <p14:creationId xmlns:p14="http://schemas.microsoft.com/office/powerpoint/2010/main" val="3530400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76A0F4E1-AD17-EC8D-1E5B-95965A7BDEF6}"/>
              </a:ext>
            </a:extLst>
          </p:cNvPr>
          <p:cNvPicPr>
            <a:picLocks noGrp="1" noChangeAspect="1"/>
          </p:cNvPicPr>
          <p:nvPr>
            <p:ph idx="1"/>
          </p:nvPr>
        </p:nvPicPr>
        <p:blipFill>
          <a:blip r:embed="rId3"/>
          <a:stretch>
            <a:fillRect/>
          </a:stretch>
        </p:blipFill>
        <p:spPr>
          <a:xfrm>
            <a:off x="910683" y="341163"/>
            <a:ext cx="10370634" cy="6175674"/>
          </a:xfrm>
          <a:prstGeom prst="rect">
            <a:avLst/>
          </a:prstGeom>
          <a:ln w="76200">
            <a:solidFill>
              <a:srgbClr val="C1D7D7"/>
            </a:solidFill>
          </a:ln>
        </p:spPr>
      </p:pic>
    </p:spTree>
    <p:extLst>
      <p:ext uri="{BB962C8B-B14F-4D97-AF65-F5344CB8AC3E}">
        <p14:creationId xmlns:p14="http://schemas.microsoft.com/office/powerpoint/2010/main" val="1237067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0AA20B-402D-5C09-9245-4E1CAC3177AD}"/>
              </a:ext>
            </a:extLst>
          </p:cNvPr>
          <p:cNvPicPr>
            <a:picLocks noGrp="1" noChangeAspect="1"/>
          </p:cNvPicPr>
          <p:nvPr>
            <p:ph idx="1"/>
          </p:nvPr>
        </p:nvPicPr>
        <p:blipFill>
          <a:blip r:embed="rId3"/>
          <a:srcRect l="210" t="442"/>
          <a:stretch>
            <a:fillRect/>
          </a:stretch>
        </p:blipFill>
        <p:spPr>
          <a:xfrm>
            <a:off x="381134" y="334537"/>
            <a:ext cx="11429731" cy="6188926"/>
          </a:xfrm>
          <a:prstGeom prst="rect">
            <a:avLst/>
          </a:prstGeom>
          <a:ln w="76200">
            <a:solidFill>
              <a:srgbClr val="C1D7D7"/>
            </a:solidFill>
          </a:ln>
        </p:spPr>
      </p:pic>
    </p:spTree>
    <p:extLst>
      <p:ext uri="{BB962C8B-B14F-4D97-AF65-F5344CB8AC3E}">
        <p14:creationId xmlns:p14="http://schemas.microsoft.com/office/powerpoint/2010/main" val="1235409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2215CA-878A-D33A-B552-CEF5DDBB8FD1}"/>
              </a:ext>
            </a:extLst>
          </p:cNvPr>
          <p:cNvPicPr>
            <a:picLocks noGrp="1" noChangeAspect="1"/>
          </p:cNvPicPr>
          <p:nvPr>
            <p:ph idx="1"/>
          </p:nvPr>
        </p:nvPicPr>
        <p:blipFill>
          <a:blip r:embed="rId3"/>
          <a:srcRect l="418" r="-1"/>
          <a:stretch>
            <a:fillRect/>
          </a:stretch>
        </p:blipFill>
        <p:spPr>
          <a:xfrm>
            <a:off x="565226" y="1788066"/>
            <a:ext cx="11061543" cy="4507959"/>
          </a:xfrm>
          <a:prstGeom prst="rect">
            <a:avLst/>
          </a:prstGeom>
          <a:ln w="76200">
            <a:solidFill>
              <a:srgbClr val="C1D7D7"/>
            </a:solidFill>
          </a:ln>
        </p:spPr>
      </p:pic>
      <p:sp>
        <p:nvSpPr>
          <p:cNvPr id="6" name="TextBox 5">
            <a:extLst>
              <a:ext uri="{FF2B5EF4-FFF2-40B4-BE49-F238E27FC236}">
                <a16:creationId xmlns:a16="http://schemas.microsoft.com/office/drawing/2014/main" id="{FF5BAD5A-FFDC-E653-FA80-AB45E9347BF8}"/>
              </a:ext>
            </a:extLst>
          </p:cNvPr>
          <p:cNvSpPr txBox="1"/>
          <p:nvPr/>
        </p:nvSpPr>
        <p:spPr>
          <a:xfrm>
            <a:off x="2205036" y="561975"/>
            <a:ext cx="7781925" cy="954107"/>
          </a:xfrm>
          <a:prstGeom prst="rect">
            <a:avLst/>
          </a:prstGeom>
          <a:noFill/>
        </p:spPr>
        <p:txBody>
          <a:bodyPr wrap="square" rtlCol="0">
            <a:spAutoFit/>
          </a:bodyPr>
          <a:lstStyle/>
          <a:p>
            <a:pPr algn="ctr"/>
            <a:r>
              <a:rPr lang="en-US" sz="2800" b="1" dirty="0"/>
              <a:t>Median EMS Response Time by Borough and Hour</a:t>
            </a:r>
          </a:p>
        </p:txBody>
      </p:sp>
      <p:sp>
        <p:nvSpPr>
          <p:cNvPr id="7" name="Rectangle 6">
            <a:extLst>
              <a:ext uri="{FF2B5EF4-FFF2-40B4-BE49-F238E27FC236}">
                <a16:creationId xmlns:a16="http://schemas.microsoft.com/office/drawing/2014/main" id="{403DC1B8-FC5D-513E-4318-09054354C38C}"/>
              </a:ext>
            </a:extLst>
          </p:cNvPr>
          <p:cNvSpPr/>
          <p:nvPr/>
        </p:nvSpPr>
        <p:spPr>
          <a:xfrm>
            <a:off x="4362450" y="1841137"/>
            <a:ext cx="4591050" cy="216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130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1" name="Group 3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32" name="Freeform: Shape 3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146B66C-2B37-DA6F-4736-A59067FEA26D}"/>
              </a:ext>
            </a:extLst>
          </p:cNvPr>
          <p:cNvSpPr>
            <a:spLocks noGrp="1"/>
          </p:cNvSpPr>
          <p:nvPr>
            <p:ph type="title"/>
          </p:nvPr>
        </p:nvSpPr>
        <p:spPr>
          <a:xfrm>
            <a:off x="640080" y="1243013"/>
            <a:ext cx="3855720" cy="4371974"/>
          </a:xfrm>
        </p:spPr>
        <p:txBody>
          <a:bodyPr>
            <a:normAutofit/>
          </a:bodyPr>
          <a:lstStyle/>
          <a:p>
            <a:r>
              <a:rPr lang="en-US" sz="4800" b="1" dirty="0"/>
              <a:t>Regression Analysis</a:t>
            </a:r>
          </a:p>
        </p:txBody>
      </p:sp>
      <p:sp>
        <p:nvSpPr>
          <p:cNvPr id="3" name="Content Placeholder 2">
            <a:extLst>
              <a:ext uri="{FF2B5EF4-FFF2-40B4-BE49-F238E27FC236}">
                <a16:creationId xmlns:a16="http://schemas.microsoft.com/office/drawing/2014/main" id="{6B044BB7-1C60-F372-BD3E-1C7A6AD4A707}"/>
              </a:ext>
            </a:extLst>
          </p:cNvPr>
          <p:cNvSpPr>
            <a:spLocks noGrp="1"/>
          </p:cNvSpPr>
          <p:nvPr>
            <p:ph idx="1"/>
          </p:nvPr>
        </p:nvSpPr>
        <p:spPr>
          <a:xfrm>
            <a:off x="5415149" y="88900"/>
            <a:ext cx="6553200" cy="6673849"/>
          </a:xfrm>
        </p:spPr>
        <p:txBody>
          <a:bodyPr anchor="ctr">
            <a:normAutofit/>
          </a:bodyPr>
          <a:lstStyle/>
          <a:p>
            <a:r>
              <a:rPr lang="en-US" sz="2000" dirty="0"/>
              <a:t>Probability of response time being over 10mins (statistically significant with an overall with a p-value of 0.000) :</a:t>
            </a:r>
          </a:p>
          <a:p>
            <a:pPr marL="0" indent="0">
              <a:buNone/>
            </a:pPr>
            <a:endParaRPr lang="en-US" sz="2000" dirty="0"/>
          </a:p>
          <a:p>
            <a:pPr lvl="1">
              <a:buFont typeface="Wingdings" panose="05000000000000000000" pitchFamily="2" charset="2"/>
              <a:buChar char="Ø"/>
            </a:pPr>
            <a:r>
              <a:rPr lang="en-US" sz="2000" dirty="0"/>
              <a:t>Using Brooklyn as the reference borough and holding incident severity, shift, weekday, month, and held status constant, EMS incidents in Queens (7.8%) and the Bronx (6.8%) has a significantly higher odds of exceeding a 10-minute response threshold than incidents in Brooklyn. Manhattan and Staten Island had significantly lower adjusted odds of delay.</a:t>
            </a:r>
          </a:p>
          <a:p>
            <a:pPr lvl="1">
              <a:buFont typeface="Wingdings" panose="05000000000000000000" pitchFamily="2" charset="2"/>
              <a:buChar char="Ø"/>
            </a:pPr>
            <a:endParaRPr lang="en-US" sz="2000" dirty="0"/>
          </a:p>
          <a:p>
            <a:pPr lvl="1">
              <a:buFont typeface="Wingdings" panose="05000000000000000000" pitchFamily="2" charset="2"/>
              <a:buChar char="Ø"/>
            </a:pPr>
            <a:r>
              <a:rPr lang="en-US" sz="2000" dirty="0"/>
              <a:t>Using Friday as a reference day, though all the other days have a lower odd of delays, Saturday (12.4%) and Sunday (15.2%) have lowest odds of delayed response than Friday.</a:t>
            </a:r>
          </a:p>
        </p:txBody>
      </p:sp>
    </p:spTree>
    <p:extLst>
      <p:ext uri="{BB962C8B-B14F-4D97-AF65-F5344CB8AC3E}">
        <p14:creationId xmlns:p14="http://schemas.microsoft.com/office/powerpoint/2010/main" val="1645415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FDE6EB-AA3A-E1CD-B753-1A2D382B55D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1" name="Group 30">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32" name="Freeform: Shape 31">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38" name="Freeform: Shape 37">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Content Placeholder 2">
            <a:extLst>
              <a:ext uri="{FF2B5EF4-FFF2-40B4-BE49-F238E27FC236}">
                <a16:creationId xmlns:a16="http://schemas.microsoft.com/office/drawing/2014/main" id="{3C832333-3884-CD50-0AD5-6F6C7E2AE71A}"/>
              </a:ext>
            </a:extLst>
          </p:cNvPr>
          <p:cNvGraphicFramePr>
            <a:graphicFrameLocks noGrp="1"/>
          </p:cNvGraphicFramePr>
          <p:nvPr>
            <p:ph idx="1"/>
            <p:extLst>
              <p:ext uri="{D42A27DB-BD31-4B8C-83A1-F6EECF244321}">
                <p14:modId xmlns:p14="http://schemas.microsoft.com/office/powerpoint/2010/main" val="4220613805"/>
              </p:ext>
            </p:extLst>
          </p:nvPr>
        </p:nvGraphicFramePr>
        <p:xfrm>
          <a:off x="841092" y="1295828"/>
          <a:ext cx="10515600" cy="511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Title 1">
            <a:extLst>
              <a:ext uri="{FF2B5EF4-FFF2-40B4-BE49-F238E27FC236}">
                <a16:creationId xmlns:a16="http://schemas.microsoft.com/office/drawing/2014/main" id="{2445AF16-F967-C03C-2F74-53CA8AA5CDEE}"/>
              </a:ext>
            </a:extLst>
          </p:cNvPr>
          <p:cNvSpPr>
            <a:spLocks noGrp="1"/>
          </p:cNvSpPr>
          <p:nvPr>
            <p:ph type="title"/>
          </p:nvPr>
        </p:nvSpPr>
        <p:spPr>
          <a:xfrm>
            <a:off x="838200" y="365125"/>
            <a:ext cx="10515600" cy="1325563"/>
          </a:xfrm>
        </p:spPr>
        <p:txBody>
          <a:bodyPr anchor="t">
            <a:normAutofit/>
          </a:bodyPr>
          <a:lstStyle/>
          <a:p>
            <a:r>
              <a:rPr lang="en-US" sz="4800" b="1" dirty="0"/>
              <a:t>Conclusion</a:t>
            </a:r>
          </a:p>
        </p:txBody>
      </p:sp>
    </p:spTree>
    <p:extLst>
      <p:ext uri="{BB962C8B-B14F-4D97-AF65-F5344CB8AC3E}">
        <p14:creationId xmlns:p14="http://schemas.microsoft.com/office/powerpoint/2010/main" val="391770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
                                            <p:graphicEl>
                                              <a:dgm id="{ACFC36F5-BE2D-43CF-8C55-81C2845AF127}"/>
                                            </p:graphicEl>
                                          </p:spTgt>
                                        </p:tgtEl>
                                        <p:attrNameLst>
                                          <p:attrName>style.visibility</p:attrName>
                                        </p:attrNameLst>
                                      </p:cBhvr>
                                      <p:to>
                                        <p:strVal val="visible"/>
                                      </p:to>
                                    </p:set>
                                    <p:anim calcmode="lin" valueType="num">
                                      <p:cBhvr additive="base">
                                        <p:cTn id="7" dur="500"/>
                                        <p:tgtEl>
                                          <p:spTgt spid="6">
                                            <p:graphicEl>
                                              <a:dgm id="{ACFC36F5-BE2D-43CF-8C55-81C2845AF127}"/>
                                            </p:graphicEl>
                                          </p:spTgt>
                                        </p:tgtEl>
                                        <p:attrNameLst>
                                          <p:attrName>ppt_y</p:attrName>
                                        </p:attrNameLst>
                                      </p:cBhvr>
                                      <p:tavLst>
                                        <p:tav tm="0">
                                          <p:val>
                                            <p:strVal val="#ppt_y+#ppt_h*1.125000"/>
                                          </p:val>
                                        </p:tav>
                                        <p:tav tm="100000">
                                          <p:val>
                                            <p:strVal val="#ppt_y"/>
                                          </p:val>
                                        </p:tav>
                                      </p:tavLst>
                                    </p:anim>
                                    <p:animEffect transition="in" filter="wipe(up)">
                                      <p:cBhvr>
                                        <p:cTn id="8" dur="500"/>
                                        <p:tgtEl>
                                          <p:spTgt spid="6">
                                            <p:graphicEl>
                                              <a:dgm id="{ACFC36F5-BE2D-43CF-8C55-81C2845AF127}"/>
                                            </p:graphic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6">
                                            <p:graphicEl>
                                              <a:dgm id="{3FE91302-0D06-455F-B143-C8C0EF3E8654}"/>
                                            </p:graphicEl>
                                          </p:spTgt>
                                        </p:tgtEl>
                                        <p:attrNameLst>
                                          <p:attrName>style.visibility</p:attrName>
                                        </p:attrNameLst>
                                      </p:cBhvr>
                                      <p:to>
                                        <p:strVal val="visible"/>
                                      </p:to>
                                    </p:set>
                                    <p:anim calcmode="lin" valueType="num">
                                      <p:cBhvr additive="base">
                                        <p:cTn id="11" dur="500"/>
                                        <p:tgtEl>
                                          <p:spTgt spid="6">
                                            <p:graphicEl>
                                              <a:dgm id="{3FE91302-0D06-455F-B143-C8C0EF3E8654}"/>
                                            </p:graphicEl>
                                          </p:spTgt>
                                        </p:tgtEl>
                                        <p:attrNameLst>
                                          <p:attrName>ppt_y</p:attrName>
                                        </p:attrNameLst>
                                      </p:cBhvr>
                                      <p:tavLst>
                                        <p:tav tm="0">
                                          <p:val>
                                            <p:strVal val="#ppt_y+#ppt_h*1.125000"/>
                                          </p:val>
                                        </p:tav>
                                        <p:tav tm="100000">
                                          <p:val>
                                            <p:strVal val="#ppt_y"/>
                                          </p:val>
                                        </p:tav>
                                      </p:tavLst>
                                    </p:anim>
                                    <p:animEffect transition="in" filter="wipe(up)">
                                      <p:cBhvr>
                                        <p:cTn id="12" dur="500"/>
                                        <p:tgtEl>
                                          <p:spTgt spid="6">
                                            <p:graphicEl>
                                              <a:dgm id="{3FE91302-0D06-455F-B143-C8C0EF3E8654}"/>
                                            </p:graphic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
                                            <p:graphicEl>
                                              <a:dgm id="{9CC9CE11-6127-4982-85A4-71809AF9E6A7}"/>
                                            </p:graphicEl>
                                          </p:spTgt>
                                        </p:tgtEl>
                                        <p:attrNameLst>
                                          <p:attrName>style.visibility</p:attrName>
                                        </p:attrNameLst>
                                      </p:cBhvr>
                                      <p:to>
                                        <p:strVal val="visible"/>
                                      </p:to>
                                    </p:set>
                                    <p:anim calcmode="lin" valueType="num">
                                      <p:cBhvr additive="base">
                                        <p:cTn id="15" dur="500"/>
                                        <p:tgtEl>
                                          <p:spTgt spid="6">
                                            <p:graphicEl>
                                              <a:dgm id="{9CC9CE11-6127-4982-85A4-71809AF9E6A7}"/>
                                            </p:graphicEl>
                                          </p:spTgt>
                                        </p:tgtEl>
                                        <p:attrNameLst>
                                          <p:attrName>ppt_y</p:attrName>
                                        </p:attrNameLst>
                                      </p:cBhvr>
                                      <p:tavLst>
                                        <p:tav tm="0">
                                          <p:val>
                                            <p:strVal val="#ppt_y+#ppt_h*1.125000"/>
                                          </p:val>
                                        </p:tav>
                                        <p:tav tm="100000">
                                          <p:val>
                                            <p:strVal val="#ppt_y"/>
                                          </p:val>
                                        </p:tav>
                                      </p:tavLst>
                                    </p:anim>
                                    <p:animEffect transition="in" filter="wipe(up)">
                                      <p:cBhvr>
                                        <p:cTn id="16" dur="500"/>
                                        <p:tgtEl>
                                          <p:spTgt spid="6">
                                            <p:graphicEl>
                                              <a:dgm id="{9CC9CE11-6127-4982-85A4-71809AF9E6A7}"/>
                                            </p:graphic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6">
                                            <p:graphicEl>
                                              <a:dgm id="{4825ABB6-29C4-4BA9-BE7B-EF4A48CAEFA1}"/>
                                            </p:graphicEl>
                                          </p:spTgt>
                                        </p:tgtEl>
                                        <p:attrNameLst>
                                          <p:attrName>style.visibility</p:attrName>
                                        </p:attrNameLst>
                                      </p:cBhvr>
                                      <p:to>
                                        <p:strVal val="visible"/>
                                      </p:to>
                                    </p:set>
                                    <p:anim calcmode="lin" valueType="num">
                                      <p:cBhvr additive="base">
                                        <p:cTn id="21" dur="500"/>
                                        <p:tgtEl>
                                          <p:spTgt spid="6">
                                            <p:graphicEl>
                                              <a:dgm id="{4825ABB6-29C4-4BA9-BE7B-EF4A48CAEFA1}"/>
                                            </p:graphicEl>
                                          </p:spTgt>
                                        </p:tgtEl>
                                        <p:attrNameLst>
                                          <p:attrName>ppt_y</p:attrName>
                                        </p:attrNameLst>
                                      </p:cBhvr>
                                      <p:tavLst>
                                        <p:tav tm="0">
                                          <p:val>
                                            <p:strVal val="#ppt_y+#ppt_h*1.125000"/>
                                          </p:val>
                                        </p:tav>
                                        <p:tav tm="100000">
                                          <p:val>
                                            <p:strVal val="#ppt_y"/>
                                          </p:val>
                                        </p:tav>
                                      </p:tavLst>
                                    </p:anim>
                                    <p:animEffect transition="in" filter="wipe(up)">
                                      <p:cBhvr>
                                        <p:cTn id="22" dur="500"/>
                                        <p:tgtEl>
                                          <p:spTgt spid="6">
                                            <p:graphicEl>
                                              <a:dgm id="{4825ABB6-29C4-4BA9-BE7B-EF4A48CAEFA1}"/>
                                            </p:graphic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6">
                                            <p:graphicEl>
                                              <a:dgm id="{10D51F48-5892-40D7-B9AE-A5CFEEE54D28}"/>
                                            </p:graphicEl>
                                          </p:spTgt>
                                        </p:tgtEl>
                                        <p:attrNameLst>
                                          <p:attrName>style.visibility</p:attrName>
                                        </p:attrNameLst>
                                      </p:cBhvr>
                                      <p:to>
                                        <p:strVal val="visible"/>
                                      </p:to>
                                    </p:set>
                                    <p:anim calcmode="lin" valueType="num">
                                      <p:cBhvr additive="base">
                                        <p:cTn id="25" dur="500"/>
                                        <p:tgtEl>
                                          <p:spTgt spid="6">
                                            <p:graphicEl>
                                              <a:dgm id="{10D51F48-5892-40D7-B9AE-A5CFEEE54D28}"/>
                                            </p:graphicEl>
                                          </p:spTgt>
                                        </p:tgtEl>
                                        <p:attrNameLst>
                                          <p:attrName>ppt_y</p:attrName>
                                        </p:attrNameLst>
                                      </p:cBhvr>
                                      <p:tavLst>
                                        <p:tav tm="0">
                                          <p:val>
                                            <p:strVal val="#ppt_y+#ppt_h*1.125000"/>
                                          </p:val>
                                        </p:tav>
                                        <p:tav tm="100000">
                                          <p:val>
                                            <p:strVal val="#ppt_y"/>
                                          </p:val>
                                        </p:tav>
                                      </p:tavLst>
                                    </p:anim>
                                    <p:animEffect transition="in" filter="wipe(up)">
                                      <p:cBhvr>
                                        <p:cTn id="26" dur="500"/>
                                        <p:tgtEl>
                                          <p:spTgt spid="6">
                                            <p:graphicEl>
                                              <a:dgm id="{10D51F48-5892-40D7-B9AE-A5CFEEE54D28}"/>
                                            </p:graphic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6">
                                            <p:graphicEl>
                                              <a:dgm id="{915BD098-8258-4B86-A487-39295F2995E0}"/>
                                            </p:graphicEl>
                                          </p:spTgt>
                                        </p:tgtEl>
                                        <p:attrNameLst>
                                          <p:attrName>style.visibility</p:attrName>
                                        </p:attrNameLst>
                                      </p:cBhvr>
                                      <p:to>
                                        <p:strVal val="visible"/>
                                      </p:to>
                                    </p:set>
                                    <p:anim calcmode="lin" valueType="num">
                                      <p:cBhvr additive="base">
                                        <p:cTn id="29" dur="500"/>
                                        <p:tgtEl>
                                          <p:spTgt spid="6">
                                            <p:graphicEl>
                                              <a:dgm id="{915BD098-8258-4B86-A487-39295F2995E0}"/>
                                            </p:graphicEl>
                                          </p:spTgt>
                                        </p:tgtEl>
                                        <p:attrNameLst>
                                          <p:attrName>ppt_y</p:attrName>
                                        </p:attrNameLst>
                                      </p:cBhvr>
                                      <p:tavLst>
                                        <p:tav tm="0">
                                          <p:val>
                                            <p:strVal val="#ppt_y+#ppt_h*1.125000"/>
                                          </p:val>
                                        </p:tav>
                                        <p:tav tm="100000">
                                          <p:val>
                                            <p:strVal val="#ppt_y"/>
                                          </p:val>
                                        </p:tav>
                                      </p:tavLst>
                                    </p:anim>
                                    <p:animEffect transition="in" filter="wipe(up)">
                                      <p:cBhvr>
                                        <p:cTn id="30" dur="500"/>
                                        <p:tgtEl>
                                          <p:spTgt spid="6">
                                            <p:graphicEl>
                                              <a:dgm id="{915BD098-8258-4B86-A487-39295F2995E0}"/>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6">
                                            <p:graphicEl>
                                              <a:dgm id="{0EECF8B7-D29D-4D96-BE01-9652F4FB019C}"/>
                                            </p:graphicEl>
                                          </p:spTgt>
                                        </p:tgtEl>
                                        <p:attrNameLst>
                                          <p:attrName>style.visibility</p:attrName>
                                        </p:attrNameLst>
                                      </p:cBhvr>
                                      <p:to>
                                        <p:strVal val="visible"/>
                                      </p:to>
                                    </p:set>
                                    <p:anim calcmode="lin" valueType="num">
                                      <p:cBhvr additive="base">
                                        <p:cTn id="35" dur="500"/>
                                        <p:tgtEl>
                                          <p:spTgt spid="6">
                                            <p:graphicEl>
                                              <a:dgm id="{0EECF8B7-D29D-4D96-BE01-9652F4FB019C}"/>
                                            </p:graphicEl>
                                          </p:spTgt>
                                        </p:tgtEl>
                                        <p:attrNameLst>
                                          <p:attrName>ppt_y</p:attrName>
                                        </p:attrNameLst>
                                      </p:cBhvr>
                                      <p:tavLst>
                                        <p:tav tm="0">
                                          <p:val>
                                            <p:strVal val="#ppt_y+#ppt_h*1.125000"/>
                                          </p:val>
                                        </p:tav>
                                        <p:tav tm="100000">
                                          <p:val>
                                            <p:strVal val="#ppt_y"/>
                                          </p:val>
                                        </p:tav>
                                      </p:tavLst>
                                    </p:anim>
                                    <p:animEffect transition="in" filter="wipe(up)">
                                      <p:cBhvr>
                                        <p:cTn id="36" dur="500"/>
                                        <p:tgtEl>
                                          <p:spTgt spid="6">
                                            <p:graphicEl>
                                              <a:dgm id="{0EECF8B7-D29D-4D96-BE01-9652F4FB019C}"/>
                                            </p:graphic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6">
                                            <p:graphicEl>
                                              <a:dgm id="{651CCDD8-C7B8-4031-A1F7-4FBC324E132B}"/>
                                            </p:graphicEl>
                                          </p:spTgt>
                                        </p:tgtEl>
                                        <p:attrNameLst>
                                          <p:attrName>style.visibility</p:attrName>
                                        </p:attrNameLst>
                                      </p:cBhvr>
                                      <p:to>
                                        <p:strVal val="visible"/>
                                      </p:to>
                                    </p:set>
                                    <p:anim calcmode="lin" valueType="num">
                                      <p:cBhvr additive="base">
                                        <p:cTn id="39" dur="500"/>
                                        <p:tgtEl>
                                          <p:spTgt spid="6">
                                            <p:graphicEl>
                                              <a:dgm id="{651CCDD8-C7B8-4031-A1F7-4FBC324E132B}"/>
                                            </p:graphicEl>
                                          </p:spTgt>
                                        </p:tgtEl>
                                        <p:attrNameLst>
                                          <p:attrName>ppt_y</p:attrName>
                                        </p:attrNameLst>
                                      </p:cBhvr>
                                      <p:tavLst>
                                        <p:tav tm="0">
                                          <p:val>
                                            <p:strVal val="#ppt_y+#ppt_h*1.125000"/>
                                          </p:val>
                                        </p:tav>
                                        <p:tav tm="100000">
                                          <p:val>
                                            <p:strVal val="#ppt_y"/>
                                          </p:val>
                                        </p:tav>
                                      </p:tavLst>
                                    </p:anim>
                                    <p:animEffect transition="in" filter="wipe(up)">
                                      <p:cBhvr>
                                        <p:cTn id="40" dur="500"/>
                                        <p:tgtEl>
                                          <p:spTgt spid="6">
                                            <p:graphicEl>
                                              <a:dgm id="{651CCDD8-C7B8-4031-A1F7-4FBC324E132B}"/>
                                            </p:graphic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6">
                                            <p:graphicEl>
                                              <a:dgm id="{12F6B3AB-B8ED-4874-A31B-790FA5218823}"/>
                                            </p:graphicEl>
                                          </p:spTgt>
                                        </p:tgtEl>
                                        <p:attrNameLst>
                                          <p:attrName>style.visibility</p:attrName>
                                        </p:attrNameLst>
                                      </p:cBhvr>
                                      <p:to>
                                        <p:strVal val="visible"/>
                                      </p:to>
                                    </p:set>
                                    <p:anim calcmode="lin" valueType="num">
                                      <p:cBhvr additive="base">
                                        <p:cTn id="43" dur="500"/>
                                        <p:tgtEl>
                                          <p:spTgt spid="6">
                                            <p:graphicEl>
                                              <a:dgm id="{12F6B3AB-B8ED-4874-A31B-790FA5218823}"/>
                                            </p:graphicEl>
                                          </p:spTgt>
                                        </p:tgtEl>
                                        <p:attrNameLst>
                                          <p:attrName>ppt_y</p:attrName>
                                        </p:attrNameLst>
                                      </p:cBhvr>
                                      <p:tavLst>
                                        <p:tav tm="0">
                                          <p:val>
                                            <p:strVal val="#ppt_y+#ppt_h*1.125000"/>
                                          </p:val>
                                        </p:tav>
                                        <p:tav tm="100000">
                                          <p:val>
                                            <p:strVal val="#ppt_y"/>
                                          </p:val>
                                        </p:tav>
                                      </p:tavLst>
                                    </p:anim>
                                    <p:animEffect transition="in" filter="wipe(up)">
                                      <p:cBhvr>
                                        <p:cTn id="44" dur="500"/>
                                        <p:tgtEl>
                                          <p:spTgt spid="6">
                                            <p:graphicEl>
                                              <a:dgm id="{12F6B3AB-B8ED-4874-A31B-790FA521882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4" name="Freeform: Shape 1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7" name="Freeform: Shape 1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DDCEFF90-B33B-94FE-C60D-60DADE3B014C}"/>
              </a:ext>
            </a:extLst>
          </p:cNvPr>
          <p:cNvSpPr>
            <a:spLocks noGrp="1"/>
          </p:cNvSpPr>
          <p:nvPr>
            <p:ph type="title"/>
          </p:nvPr>
        </p:nvSpPr>
        <p:spPr>
          <a:xfrm>
            <a:off x="3502731" y="1542402"/>
            <a:ext cx="5186842" cy="2387918"/>
          </a:xfrm>
        </p:spPr>
        <p:txBody>
          <a:bodyPr vert="horz" lIns="91440" tIns="45720" rIns="91440" bIns="45720" rtlCol="0" anchor="b">
            <a:normAutofit/>
          </a:bodyPr>
          <a:lstStyle/>
          <a:p>
            <a:pPr algn="ctr"/>
            <a:r>
              <a:rPr lang="en-US" sz="5200" kern="1200">
                <a:solidFill>
                  <a:schemeClr val="tx2"/>
                </a:solidFill>
                <a:latin typeface="+mj-lt"/>
                <a:ea typeface="+mj-ea"/>
                <a:cs typeface="+mj-cs"/>
              </a:rPr>
              <a:t>Thank You!</a:t>
            </a:r>
          </a:p>
        </p:txBody>
      </p:sp>
      <p:sp>
        <p:nvSpPr>
          <p:cNvPr id="5" name="Text Placeholder 4">
            <a:extLst>
              <a:ext uri="{FF2B5EF4-FFF2-40B4-BE49-F238E27FC236}">
                <a16:creationId xmlns:a16="http://schemas.microsoft.com/office/drawing/2014/main" id="{8DF10EFF-B212-CCB9-6D3D-F6AC559C2C8B}"/>
              </a:ext>
            </a:extLst>
          </p:cNvPr>
          <p:cNvSpPr>
            <a:spLocks noGrp="1"/>
          </p:cNvSpPr>
          <p:nvPr>
            <p:ph type="body" idx="1"/>
          </p:nvPr>
        </p:nvSpPr>
        <p:spPr>
          <a:xfrm>
            <a:off x="3502135" y="4001587"/>
            <a:ext cx="5188034" cy="682079"/>
          </a:xfrm>
        </p:spPr>
        <p:txBody>
          <a:bodyPr vert="horz" lIns="91440" tIns="45720" rIns="91440" bIns="45720" rtlCol="0">
            <a:normAutofit/>
          </a:bodyPr>
          <a:lstStyle/>
          <a:p>
            <a:pPr algn="ctr"/>
            <a:r>
              <a:rPr lang="en-US" kern="1200">
                <a:solidFill>
                  <a:schemeClr val="tx2"/>
                </a:solidFill>
                <a:latin typeface="+mn-lt"/>
                <a:ea typeface="+mn-ea"/>
                <a:cs typeface="+mn-cs"/>
              </a:rPr>
              <a:t>Questions? </a:t>
            </a:r>
          </a:p>
        </p:txBody>
      </p:sp>
      <p:grpSp>
        <p:nvGrpSpPr>
          <p:cNvPr id="25" name="Group 2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6" name="Freeform: Shape 25">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2" name="Freeform: Shape 3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5" name="Freeform: Shape 34">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86086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821</Words>
  <Application>Microsoft Office PowerPoint</Application>
  <PresentationFormat>Widescreen</PresentationFormat>
  <Paragraphs>57</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Wingdings</vt:lpstr>
      <vt:lpstr>Office Theme</vt:lpstr>
      <vt:lpstr>NYC EMS Incident Response Time</vt:lpstr>
      <vt:lpstr>PowerPoint Presentation</vt:lpstr>
      <vt:lpstr>PowerPoint Presentation</vt:lpstr>
      <vt:lpstr>Data Cleaning/Transformation</vt:lpstr>
      <vt:lpstr>Descriptive Analysis: Response Time by Borough</vt:lpstr>
      <vt:lpstr>Data Visualization</vt:lpstr>
      <vt:lpstr>PowerPoint Presentation</vt:lpstr>
      <vt:lpstr>PowerPoint Presentation</vt:lpstr>
      <vt:lpstr>PowerPoint Presentation</vt:lpstr>
      <vt:lpstr>Regression Analysis</vt:lpstr>
      <vt:lpstr>Conclusion</vt:lpstr>
      <vt:lpstr>Thank You!</vt:lpstr>
    </vt:vector>
  </TitlesOfParts>
  <Company>HF Management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Nahar, Syeda</dc:creator>
  <cp:lastModifiedBy>Nahar, Syeda</cp:lastModifiedBy>
  <cp:revision>2</cp:revision>
  <dcterms:created xsi:type="dcterms:W3CDTF">2026-06-03T18:27:13Z</dcterms:created>
  <dcterms:modified xsi:type="dcterms:W3CDTF">2026-06-03T22:58:12Z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882f12-421b-44e0-be57-0bd76256c3e5_Enabled">
    <vt:lpwstr>true</vt:lpwstr>
  </property>
  <property fmtid="{D5CDD505-2E9C-101B-9397-08002B2CF9AE}" pid="3" name="MSIP_Label_f4882f12-421b-44e0-be57-0bd76256c3e5_SetDate">
    <vt:lpwstr>2026-06-03T20:00:38Z</vt:lpwstr>
  </property>
  <property fmtid="{D5CDD505-2E9C-101B-9397-08002B2CF9AE}" pid="4" name="MSIP_Label_f4882f12-421b-44e0-be57-0bd76256c3e5_Method">
    <vt:lpwstr>Standard</vt:lpwstr>
  </property>
  <property fmtid="{D5CDD505-2E9C-101B-9397-08002B2CF9AE}" pid="5" name="MSIP_Label_f4882f12-421b-44e0-be57-0bd76256c3e5_Name">
    <vt:lpwstr>General Business Data</vt:lpwstr>
  </property>
  <property fmtid="{D5CDD505-2E9C-101B-9397-08002B2CF9AE}" pid="6" name="MSIP_Label_f4882f12-421b-44e0-be57-0bd76256c3e5_SiteId">
    <vt:lpwstr>7697727b-2a23-4f42-a66c-02ef2bb7fd6b</vt:lpwstr>
  </property>
  <property fmtid="{D5CDD505-2E9C-101B-9397-08002B2CF9AE}" pid="7" name="MSIP_Label_f4882f12-421b-44e0-be57-0bd76256c3e5_ActionId">
    <vt:lpwstr>60145c47-7357-4f06-b0c8-dc31a47265b9</vt:lpwstr>
  </property>
  <property fmtid="{D5CDD505-2E9C-101B-9397-08002B2CF9AE}" pid="8" name="MSIP_Label_f4882f12-421b-44e0-be57-0bd76256c3e5_ContentBits">
    <vt:lpwstr>0</vt:lpwstr>
  </property>
  <property fmtid="{D5CDD505-2E9C-101B-9397-08002B2CF9AE}" pid="9" name="MSIP_Label_f4882f12-421b-44e0-be57-0bd76256c3e5_Tag">
    <vt:lpwstr>10, 3, 0, 1</vt:lpwstr>
  </property>
</Properties>
</file>